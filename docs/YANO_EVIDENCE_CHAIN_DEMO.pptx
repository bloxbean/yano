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5228fd97cc4759" /><Relationship Type="http://schemas.openxmlformats.org/officeDocument/2006/relationships/extended-properties" Target="/docProps/app.xml" Id="R8dbf0fe4165a468b" /><Relationship Type="http://schemas.openxmlformats.org/officeDocument/2006/relationships/officeDocument" Target="/ppt/presentation.xml" Id="R911e91a6ddd4473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d6c2278a684956"/>
  </p:sldMasterIdLst>
  <p:notesMasterIdLst>
    <p:notesMasterId xmlns:r="http://schemas.openxmlformats.org/officeDocument/2006/relationships" r:id="R5e18cda9158c4676"/>
  </p:notesMasterIdLst>
  <p:sldIdLst>
    <p:sldId xmlns:r="http://schemas.openxmlformats.org/officeDocument/2006/relationships" id="256" r:id="R08191313b76642de"/>
    <p:sldId xmlns:r="http://schemas.openxmlformats.org/officeDocument/2006/relationships" id="257" r:id="Rd43e9f11dbf54da3"/>
    <p:sldId xmlns:r="http://schemas.openxmlformats.org/officeDocument/2006/relationships" id="258" r:id="Rc89ed592b93b4247"/>
    <p:sldId xmlns:r="http://schemas.openxmlformats.org/officeDocument/2006/relationships" id="259" r:id="R2a5ed9f331454325"/>
    <p:sldId xmlns:r="http://schemas.openxmlformats.org/officeDocument/2006/relationships" id="260" r:id="R92cff8f96b854c68"/>
    <p:sldId xmlns:r="http://schemas.openxmlformats.org/officeDocument/2006/relationships" id="261" r:id="R943e808feef44f5d"/>
    <p:sldId xmlns:r="http://schemas.openxmlformats.org/officeDocument/2006/relationships" id="262" r:id="R3e0f0640ae52462e"/>
    <p:sldId xmlns:r="http://schemas.openxmlformats.org/officeDocument/2006/relationships" id="263" r:id="R0af1b7651c444745"/>
    <p:sldId xmlns:r="http://schemas.openxmlformats.org/officeDocument/2006/relationships" id="264" r:id="Rc2349533867249f7"/>
    <p:sldId xmlns:r="http://schemas.openxmlformats.org/officeDocument/2006/relationships" id="265" r:id="R181acedbe043418c"/>
    <p:sldId xmlns:r="http://schemas.openxmlformats.org/officeDocument/2006/relationships" id="266" r:id="Rcf771c25c8404b74"/>
    <p:sldId xmlns:r="http://schemas.openxmlformats.org/officeDocument/2006/relationships" id="267" r:id="Ra32e6ce5a0b64a77"/>
    <p:sldId xmlns:r="http://schemas.openxmlformats.org/officeDocument/2006/relationships" id="268" r:id="R5144a721c9e5499a"/>
    <p:sldId xmlns:r="http://schemas.openxmlformats.org/officeDocument/2006/relationships" id="269" r:id="R8320fa050bf647fd"/>
    <p:sldId xmlns:r="http://schemas.openxmlformats.org/officeDocument/2006/relationships" id="270" r:id="Ra000b648bd69449d"/>
    <p:sldId xmlns:r="http://schemas.openxmlformats.org/officeDocument/2006/relationships" id="271" r:id="R36f9039dcbef431d"/>
    <p:sldId xmlns:r="http://schemas.openxmlformats.org/officeDocument/2006/relationships" id="272" r:id="Ra783779e6bb74dd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6fdb0797584988" /><Relationship Type="http://schemas.openxmlformats.org/officeDocument/2006/relationships/slideMaster" Target="/ppt/slideMasters/slideMaster1.xml" Id="R8dd6c2278a684956" /><Relationship Type="http://schemas.openxmlformats.org/officeDocument/2006/relationships/notesMaster" Target="/ppt/notesMasters/notesMaster1.xml" Id="R5e18cda9158c4676" /><Relationship Type="http://schemas.openxmlformats.org/officeDocument/2006/relationships/presProps" Target="/ppt/presProps.xml" Id="R61cc4c9bc8794d93" /><Relationship Type="http://schemas.openxmlformats.org/officeDocument/2006/relationships/tableStyles" Target="/ppt/tableStyles.xml" Id="R86153003c291411b" /><Relationship Type="http://schemas.openxmlformats.org/officeDocument/2006/relationships/slide" Target="/ppt/slides/slide1.xml" Id="R08191313b76642de" /><Relationship Type="http://schemas.openxmlformats.org/officeDocument/2006/relationships/slide" Target="/ppt/slides/slide2.xml" Id="Rd43e9f11dbf54da3" /><Relationship Type="http://schemas.openxmlformats.org/officeDocument/2006/relationships/slide" Target="/ppt/slides/slide3.xml" Id="Rc89ed592b93b4247" /><Relationship Type="http://schemas.openxmlformats.org/officeDocument/2006/relationships/slide" Target="/ppt/slides/slide4.xml" Id="R2a5ed9f331454325" /><Relationship Type="http://schemas.openxmlformats.org/officeDocument/2006/relationships/slide" Target="/ppt/slides/slide5.xml" Id="R92cff8f96b854c68" /><Relationship Type="http://schemas.openxmlformats.org/officeDocument/2006/relationships/slide" Target="/ppt/slides/slide6.xml" Id="R943e808feef44f5d" /><Relationship Type="http://schemas.openxmlformats.org/officeDocument/2006/relationships/slide" Target="/ppt/slides/slide7.xml" Id="R3e0f0640ae52462e" /><Relationship Type="http://schemas.openxmlformats.org/officeDocument/2006/relationships/slide" Target="/ppt/slides/slide8.xml" Id="R0af1b7651c444745" /><Relationship Type="http://schemas.openxmlformats.org/officeDocument/2006/relationships/slide" Target="/ppt/slides/slide9.xml" Id="Rc2349533867249f7" /><Relationship Type="http://schemas.openxmlformats.org/officeDocument/2006/relationships/slide" Target="/ppt/slides/slide10.xml" Id="R181acedbe043418c" /><Relationship Type="http://schemas.openxmlformats.org/officeDocument/2006/relationships/slide" Target="/ppt/slides/slide11.xml" Id="Rcf771c25c8404b74" /><Relationship Type="http://schemas.openxmlformats.org/officeDocument/2006/relationships/slide" Target="/ppt/slides/slide12.xml" Id="Ra32e6ce5a0b64a77" /><Relationship Type="http://schemas.openxmlformats.org/officeDocument/2006/relationships/slide" Target="/ppt/slides/slide13.xml" Id="R5144a721c9e5499a" /><Relationship Type="http://schemas.openxmlformats.org/officeDocument/2006/relationships/slide" Target="/ppt/slides/slide14.xml" Id="R8320fa050bf647fd" /><Relationship Type="http://schemas.openxmlformats.org/officeDocument/2006/relationships/slide" Target="/ppt/slides/slide15.xml" Id="Ra000b648bd69449d" /><Relationship Type="http://schemas.openxmlformats.org/officeDocument/2006/relationships/slide" Target="/ppt/slides/slide16.xml" Id="R36f9039dcbef431d" /><Relationship Type="http://schemas.openxmlformats.org/officeDocument/2006/relationships/slide" Target="/ppt/slides/slide17.xml" Id="Ra783779e6bb74d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0bd6f5a68ac473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5eedd8cb2c444c" /><Relationship Type="http://schemas.openxmlformats.org/officeDocument/2006/relationships/notesMaster" Target="/ppt/notesMasters/notesMaster1.xml" Id="Ref1bb6643ced4b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cda96df2924fe0" /><Relationship Type="http://schemas.openxmlformats.org/officeDocument/2006/relationships/notesMaster" Target="/ppt/notesMasters/notesMaster1.xml" Id="Rf44c08b0037a4a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8b107530b24a44" /><Relationship Type="http://schemas.openxmlformats.org/officeDocument/2006/relationships/notesMaster" Target="/ppt/notesMasters/notesMaster1.xml" Id="Re67abe6d4a5645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ec30d54ca941d2" /><Relationship Type="http://schemas.openxmlformats.org/officeDocument/2006/relationships/notesMaster" Target="/ppt/notesMasters/notesMaster1.xml" Id="Raf94d4e98be648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10dd916b0f47eb" /><Relationship Type="http://schemas.openxmlformats.org/officeDocument/2006/relationships/notesMaster" Target="/ppt/notesMasters/notesMaster1.xml" Id="Rd702659cf17f4db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a94d134e024a6d" /><Relationship Type="http://schemas.openxmlformats.org/officeDocument/2006/relationships/notesMaster" Target="/ppt/notesMasters/notesMaster1.xml" Id="Rb84d215e9e5544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6bf222005d477d" /><Relationship Type="http://schemas.openxmlformats.org/officeDocument/2006/relationships/notesMaster" Target="/ppt/notesMasters/notesMaster1.xml" Id="R3eb6f09263ba430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bb8b75a597488c" /><Relationship Type="http://schemas.openxmlformats.org/officeDocument/2006/relationships/notesMaster" Target="/ppt/notesMasters/notesMaster1.xml" Id="R8008f9ba9c6f46a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296a2aa2a084f99" /><Relationship Type="http://schemas.openxmlformats.org/officeDocument/2006/relationships/notesMaster" Target="/ppt/notesMasters/notesMaster1.xml" Id="Ree0b1dada26746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49639d1dd274555" /><Relationship Type="http://schemas.openxmlformats.org/officeDocument/2006/relationships/notesMaster" Target="/ppt/notesMasters/notesMaster1.xml" Id="Rf9a9af9d25a24ab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79cdd41df747ef" /><Relationship Type="http://schemas.openxmlformats.org/officeDocument/2006/relationships/notesMaster" Target="/ppt/notesMasters/notesMaster1.xml" Id="R6f4bab9671044f0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b2d7722a646487d" /><Relationship Type="http://schemas.openxmlformats.org/officeDocument/2006/relationships/notesMaster" Target="/ppt/notesMasters/notesMaster1.xml" Id="R58cb166bc89c4be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e119da8cb4e4e4b" /><Relationship Type="http://schemas.openxmlformats.org/officeDocument/2006/relationships/notesMaster" Target="/ppt/notesMasters/notesMaster1.xml" Id="R1c0081dd65894a3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7025b331c104b7c" /><Relationship Type="http://schemas.openxmlformats.org/officeDocument/2006/relationships/notesMaster" Target="/ppt/notesMasters/notesMaster1.xml" Id="Rac805d1e4dda421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64ce5c24bcc4df6" /><Relationship Type="http://schemas.openxmlformats.org/officeDocument/2006/relationships/notesMaster" Target="/ppt/notesMasters/notesMaster1.xml" Id="R5d258791a584414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cd439c9a1514c94" /><Relationship Type="http://schemas.openxmlformats.org/officeDocument/2006/relationships/notesMaster" Target="/ppt/notesMasters/notesMaster1.xml" Id="R2491d9be225f4e0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3e20c95d27148f6" /><Relationship Type="http://schemas.openxmlformats.org/officeDocument/2006/relationships/notesMaster" Target="/ppt/notesMasters/notesMaster1.xml" Id="Rd00e918381a04d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minute.</a:t>
            </a:r>
          </a:p>
          <a:p xmlns:a="http://schemas.openxmlformats.org/drawingml/2006/main">
            <a:r>
              <a:t>Open with the outcome, not the implementation: several organizations agree on one evidence record and can later verify the exact bytes and publication trail.</a:t>
            </a:r>
          </a:p>
          <a:p xmlns:a="http://schemas.openxmlformats.org/drawingml/2006/main">
            <a:r>
              <a:t>The inspection certificate is the example; the architecture is reusable for compliance, product passports, registries, and shared approvals.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Contrast operational sharing with independently verifiable sharing.</a:t>
            </a:r>
          </a:p>
          <a:p xmlns:a="http://schemas.openxmlformats.org/drawingml/2006/main">
            <a:r>
              <a:t>The app chain does not replace each external system; it becomes the shared decision and evidence layer that binds them.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Follow the evidence package: the document stays off-chain; the app chain stores identity, hashes, authorization, effects, and receipts; Cardano stores only a compact certified root commitment.</a:t>
            </a:r>
          </a:p>
          <a:p xmlns:a="http://schemas.openxmlformats.org/drawingml/2006/main">
            <a:r>
              <a:t>The runner later verifies every destination independently.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Explain the default topology: three distinct member identities and threshold two.</a:t>
            </a:r>
          </a:p>
          <a:p xmlns:a="http://schemas.openxmlformats.org/drawingml/2006/main">
            <a:r>
              <a:t>Node 0 alone owns external connector credentials, but all members validate the deterministic instructions and incorporated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The evidence-v1-gated preset is configuration, but the exact component order, versions, routes, and quotas are committed as consensus identity.</a:t>
            </a:r>
          </a:p>
          <a:p xmlns:a="http://schemas.openxmlformats.org/drawingml/2006/main">
            <a:r>
              <a:t>The release workflow updates document trail and evidence atomically; components cannot reach into each other's state casually.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This is the central safety boundary. Kafka or S3 latency can never decide a member's state root.</a:t>
            </a:r>
          </a:p>
          <a:p xmlns:a="http://schemas.openxmlformats.org/drawingml/2006/main">
            <a:r>
              <a:t>Executors may retry after crashes or lost acknowledgements; therefore actions reconcile by effect ID and destination identity.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1.5 minutes.</a:t>
            </a:r>
          </a:p>
          <a:p xmlns:a="http://schemas.openxmlformats.org/drawingml/2006/main">
            <a:r>
              <a:t>Emphasize the ordering: changed bytes for an existing ID are rejected before staging or chain submission.</a:t>
            </a:r>
          </a:p>
          <a:p xmlns:a="http://schemas.openxmlformats.org/drawingml/2006/main">
            <a:r>
              <a:t>Absence is proof-verified; an inaccessible member is never treated as evidence that a record does not exist.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Walk through the default gated composite. The approval binds the exact command, not a vague business label.</a:t>
            </a:r>
          </a:p>
          <a:p xmlns:a="http://schemas.openxmlformats.org/drawingml/2006/main">
            <a:r>
              <a:t>Release is the atomic business boundary that creates two immutable storage effects.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Results are not just logs; they return through the app chain and become proof-addressable authenticated state.</a:t>
            </a:r>
          </a:p>
          <a:p xmlns:a="http://schemas.openxmlformats.org/drawingml/2006/main">
            <a:r>
              <a:t>Explain explicit versus direct continuation briefly. The selected continuation mode is part of chain identity.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Show that the report combines proof verification with independent connector reads.</a:t>
            </a:r>
          </a:p>
          <a:p xmlns:a="http://schemas.openxmlformats.org/drawingml/2006/main">
            <a:r>
              <a:t>The runner checks the Cardano script transaction and datum on every member's observed L1 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1.5 minutes.</a:t>
            </a:r>
          </a:p>
          <a:p xmlns:a="http://schemas.openxmlformats.org/drawingml/2006/main">
            <a:r>
              <a:t>Use this slide to answer the common privacy question: the document is not put in app-chain state or the Cardano anchor.</a:t>
            </a:r>
          </a:p>
          <a:p xmlns:a="http://schemas.openxmlformats.org/drawingml/2006/main">
            <a:r>
              <a:t>Secrets stay in protected node/connector configuration and never appear in payloads or the report UI.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2 minutes.</a:t>
            </a:r>
          </a:p>
          <a:p xmlns:a="http://schemas.openxmlformats.org/drawingml/2006/main">
            <a:r>
              <a:t>Publish is create-only. Republish is exact-next-version and preserves history. Verify is strictly read-only. Replay exists only to show deterministic idempotency.</a:t>
            </a:r>
          </a:p>
          <a:p xmlns:a="http://schemas.openxmlformats.org/drawingml/2006/main">
            <a:r>
              <a:t>Load measures complete verified workflows, not raw HTTP or consensus ingress throughput.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1.5 minutes.</a:t>
            </a:r>
          </a:p>
          <a:p xmlns:a="http://schemas.openxmlformats.org/drawingml/2006/main">
            <a:r>
              <a:t>Use the acknowledgement-lost case to explain why external exactly-once cannot be assumed.</a:t>
            </a:r>
          </a:p>
          <a:p xmlns:a="http://schemas.openxmlformats.org/drawingml/2006/main">
            <a:r>
              <a:t>Kafka consumers deduplicate by the reserved yano-effect-id header when a duplicate physical record matters.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1.5 minutes.</a:t>
            </a:r>
          </a:p>
          <a:p xmlns:a="http://schemas.openxmlformats.org/drawingml/2006/main">
            <a:r>
              <a:t>Make the trust boundary explicit. Yano proves what configured participants finalized and what the connectors later observed.</a:t>
            </a:r>
          </a:p>
          <a:p xmlns:a="http://schemas.openxmlformats.org/drawingml/2006/main">
            <a:r>
              <a:t>Real-world truth requires domain identity, source, credential, quorum, and validation rules.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1.5 minutes.</a:t>
            </a:r>
          </a:p>
          <a:p xmlns:a="http://schemas.openxmlformats.org/drawingml/2006/main">
            <a:r>
              <a:t>The demo is intentionally useful without Java application code.</a:t>
            </a:r>
          </a:p>
          <a:p xmlns:a="http://schemas.openxmlformats.org/drawingml/2006/main">
            <a:r>
              <a:t>A domain bundle is added only for rules that make the business claim meaningful: identities, credentials, schemas, approvals, APIs, or new connectors.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7 minutes live.</a:t>
            </a:r>
          </a:p>
          <a:p xmlns:a="http://schemas.openxmlformats.org/drawingml/2006/main">
            <a:r>
              <a:t>Prepare and start before the talk when time is tight. Begin the live portion at publish.</a:t>
            </a:r>
          </a:p>
          <a:p xmlns:a="http://schemas.openxmlformats.org/drawingml/2006/main">
            <a:r>
              <a:t>Show the evidence UI, then run verify and point out that it submits no message and performs no external write.</a:t>
            </a:r>
          </a:p>
          <a:p xmlns:a="http://schemas.openxmlformats.org/drawingml/2006/main">
            <a:r>
              <a:t>Attempt publish with the same ID and changed bytes to demonstrate safe rejection, then republish as version 2 if time permits.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Timing: 1 minute.</a:t>
            </a:r>
          </a:p>
          <a:p xmlns:a="http://schemas.openxmlformats.org/drawingml/2006/main">
            <a:r>
              <a:t>Close by returning to the opening promise: evidence remains linked across organizations and systems without placing the full application on Cardano.</a:t>
            </a:r>
          </a:p>
          <a:p xmlns:a="http://schemas.openxmlformats.org/drawingml/2006/main">
            <a:r>
              <a:t>Invite the audience to name the participants, approval rule, evidence bytes, and external actions for their own use case.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93c0a3337c4b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73dc41f1ce4c7c" /><Relationship Type="http://schemas.openxmlformats.org/officeDocument/2006/relationships/slideLayout" Target="/ppt/slideLayouts/slideLayout1.xml" Id="R2c13cf3890fe455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13cf3890fe455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af36fb8f147de" /><Relationship Type="http://schemas.openxmlformats.org/officeDocument/2006/relationships/notesSlide" Target="/ppt/notesSlides/notesSlide1.xml" Id="R7abf6d1c602b4f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d80893e2094872" /><Relationship Type="http://schemas.openxmlformats.org/officeDocument/2006/relationships/notesSlide" Target="/ppt/notesSlides/notesSlide2.xml" Id="Rb2ccd9612e3645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754b10add4c17" /><Relationship Type="http://schemas.openxmlformats.org/officeDocument/2006/relationships/notesSlide" Target="/ppt/notesSlides/notesSlide3.xml" Id="Rf5dcd19c4e3449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7f562873424530" /><Relationship Type="http://schemas.openxmlformats.org/officeDocument/2006/relationships/notesSlide" Target="/ppt/notesSlides/notesSlide4.xml" Id="Rd0bd8c4f0b8147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f3c35394346c8" /><Relationship Type="http://schemas.openxmlformats.org/officeDocument/2006/relationships/notesSlide" Target="/ppt/notesSlides/notesSlide5.xml" Id="R08150063d7eb41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67335f9eb4943" /><Relationship Type="http://schemas.openxmlformats.org/officeDocument/2006/relationships/notesSlide" Target="/ppt/notesSlides/notesSlide6.xml" Id="R97fc51e1df434d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b17403128477c" /><Relationship Type="http://schemas.openxmlformats.org/officeDocument/2006/relationships/notesSlide" Target="/ppt/notesSlides/notesSlide7.xml" Id="R2572693bc61e428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f9a9d0efd413e" /><Relationship Type="http://schemas.openxmlformats.org/officeDocument/2006/relationships/notesSlide" Target="/ppt/notesSlides/notesSlide8.xml" Id="R4e43e0b9fbde4c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a47b4a78434894" /><Relationship Type="http://schemas.openxmlformats.org/officeDocument/2006/relationships/notesSlide" Target="/ppt/notesSlides/notesSlide9.xml" Id="R95154dcea69841c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8bb506d974bce" /><Relationship Type="http://schemas.openxmlformats.org/officeDocument/2006/relationships/notesSlide" Target="/ppt/notesSlides/notesSlide10.xml" Id="R9c28712792e5400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e278b9db245ae" /><Relationship Type="http://schemas.openxmlformats.org/officeDocument/2006/relationships/notesSlide" Target="/ppt/notesSlides/notesSlide11.xml" Id="R4a556b45846b479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e6ace68aa94fc9" /><Relationship Type="http://schemas.openxmlformats.org/officeDocument/2006/relationships/notesSlide" Target="/ppt/notesSlides/notesSlide12.xml" Id="R9d17e126d282419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c8dcacaf94653" /><Relationship Type="http://schemas.openxmlformats.org/officeDocument/2006/relationships/notesSlide" Target="/ppt/notesSlides/notesSlide13.xml" Id="Rfdd6b4e8146c43a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a4db33d63f4bfb" /><Relationship Type="http://schemas.openxmlformats.org/officeDocument/2006/relationships/notesSlide" Target="/ppt/notesSlides/notesSlide14.xml" Id="Rc4020b2c0375487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2385ae52c414f" /><Relationship Type="http://schemas.openxmlformats.org/officeDocument/2006/relationships/notesSlide" Target="/ppt/notesSlides/notesSlide15.xml" Id="Rda6c15af48d144e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8f343b91e4892" /><Relationship Type="http://schemas.openxmlformats.org/officeDocument/2006/relationships/notesSlide" Target="/ppt/notesSlides/notesSlide16.xml" Id="R67fabfcb41454ac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5392750e1647cb" /><Relationship Type="http://schemas.openxmlformats.org/officeDocument/2006/relationships/notesSlide" Target="/ppt/notesSlides/notesSlide17.xml" Id="R9edfe17e4c6a4a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5554122-5064-4E49-89CC-C8570BFD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YANO APP CHAINS</a:t>
            </a:r>
          </a:p>
        </p:txBody>
      </p:sp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0A7716E1-8D7E-40A0-B301-D0692506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66850"/>
            <a:ext cx="1714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91E7218-405C-4101-A53F-081010DF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9144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 that survives</a:t>
            </a:r>
          </a:p>
          <a:p xmlns:a="http://schemas.openxmlformats.org/drawingml/2006/main">
            <a:pPr algn="l">
              <a:defRPr sz="5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every hand-off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31A1B2A-4E78-4ECF-82FB-1F32A187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885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26B77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626B77"/>
                </a:solidFill>
                <a:latin typeface="Arial"/>
                <a:ea typeface="Arial"/>
                <a:cs typeface="Arial"/>
              </a:rPr>
              <a:t>Shared approval → preserved bytes → verified publication → Cardano anchor</a:t>
            </a:r>
          </a:p>
        </p:txBody>
      </p:sp>
      <p:sp>
        <p:nvSpPr>
          <p:cNvPr id="5" name="cover-context">
            <a:extLst xmlns:a="http://schemas.openxmlformats.org/drawingml/2006/main">
              <a:ext uri="{FF2B5EF4-FFF2-40B4-BE49-F238E27FC236}">
                <a16:creationId xmlns:a16="http://schemas.microsoft.com/office/drawing/2014/main" id="{4077111D-20C5-4E16-9452-2DE80980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293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Evidence-chain demo • 30-minute introduction</a:t>
            </a:r>
          </a:p>
        </p:txBody>
      </p:sp>
    </p:spTree>
    <p:extLst>
      <p:ext uri="{BB962C8B-B14F-4D97-AF65-F5344CB8AC3E}">
        <p14:creationId xmlns:p14="http://schemas.microsoft.com/office/powerpoint/2010/main" val="2080880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2">
            <a:extLst xmlns:a="http://schemas.openxmlformats.org/drawingml/2006/main">
              <a:ext uri="{FF2B5EF4-FFF2-40B4-BE49-F238E27FC236}">
                <a16:creationId xmlns:a16="http://schemas.microsoft.com/office/drawing/2014/main" id="{EF5D85D4-82A5-46B5-BF56-80783312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YANO EVIDENCE CHAIN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1F8F6C4C-07C6-4616-9A34-AB967FAC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shared database is not shared evidence</a:t>
            </a:r>
          </a:p>
        </p:txBody>
      </p:sp>
      <p:sp>
        <p:nvSpPr>
          <p:cNvPr id="3" name="footer-2">
            <a:extLst xmlns:a="http://schemas.openxmlformats.org/drawingml/2006/main">
              <a:ext uri="{FF2B5EF4-FFF2-40B4-BE49-F238E27FC236}">
                <a16:creationId xmlns:a16="http://schemas.microsoft.com/office/drawing/2014/main" id="{434DD44F-05C6-4A17-AA5F-CCB5EC3B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B7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4" name="problem-setup">
            <a:extLst xmlns:a="http://schemas.openxmlformats.org/drawingml/2006/main">
              <a:ext uri="{FF2B5EF4-FFF2-40B4-BE49-F238E27FC236}">
                <a16:creationId xmlns:a16="http://schemas.microsoft.com/office/drawing/2014/main" id="{0C764907-1547-4265-9AD1-814D9B1F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478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26B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6B77"/>
                </a:solidFill>
                <a:latin typeface="Arial"/>
                <a:ea typeface="Arial"/>
                <a:cs typeface="Arial"/>
              </a:rPr>
              <a:t>The hard part is not storing a document. It is keeping approval, bytes, notifications, and audit history bound together across organizations.</a:t>
            </a:r>
          </a:p>
        </p:txBody>
      </p:sp>
      <p:sp>
        <p:nvSpPr>
          <p:cNvPr id="5" name="traditional-surface">
            <a:extLst xmlns:a="http://schemas.openxmlformats.org/drawingml/2006/main">
              <a:ext uri="{FF2B5EF4-FFF2-40B4-BE49-F238E27FC236}">
                <a16:creationId xmlns:a16="http://schemas.microsoft.com/office/drawing/2014/main" id="{1774937E-F24E-440A-BCF3-60E4B6CC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5238750" cy="30861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raditional-title">
            <a:extLst xmlns:a="http://schemas.openxmlformats.org/drawingml/2006/main">
              <a:ext uri="{FF2B5EF4-FFF2-40B4-BE49-F238E27FC236}">
                <a16:creationId xmlns:a16="http://schemas.microsoft.com/office/drawing/2014/main" id="{7644B598-B6A0-4998-B6B9-4781923F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24150"/>
            <a:ext cx="4743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Traditional integration</a:t>
            </a:r>
          </a:p>
        </p:txBody>
      </p:sp>
      <p:sp>
        <p:nvSpPr>
          <p:cNvPr id="7" name="traditional-body">
            <a:extLst xmlns:a="http://schemas.openxmlformats.org/drawingml/2006/main">
              <a:ext uri="{FF2B5EF4-FFF2-40B4-BE49-F238E27FC236}">
                <a16:creationId xmlns:a16="http://schemas.microsoft.com/office/drawing/2014/main" id="{5BBE16F8-AC6D-4FFC-BEED-A12BEF01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47434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operator owns the database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Audits reconstruct history later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Document, event, and receipt can drift</a:t>
            </a:r>
          </a:p>
        </p:txBody>
      </p:sp>
      <p:sp>
        <p:nvSpPr>
          <p:cNvPr id="8" name="evidence-chain-surface">
            <a:extLst xmlns:a="http://schemas.openxmlformats.org/drawingml/2006/main">
              <a:ext uri="{FF2B5EF4-FFF2-40B4-BE49-F238E27FC236}">
                <a16:creationId xmlns:a16="http://schemas.microsoft.com/office/drawing/2014/main" id="{30E6154A-CC66-4FA8-B3D7-9190A5F6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76500"/>
            <a:ext cx="5486400" cy="30861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vidence-chain-title">
            <a:extLst xmlns:a="http://schemas.openxmlformats.org/drawingml/2006/main">
              <a:ext uri="{FF2B5EF4-FFF2-40B4-BE49-F238E27FC236}">
                <a16:creationId xmlns:a16="http://schemas.microsoft.com/office/drawing/2014/main" id="{C11BFC9A-5AB5-41A6-88AC-DA52C735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24150"/>
            <a:ext cx="499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 chain</a:t>
            </a:r>
          </a:p>
        </p:txBody>
      </p:sp>
      <p:sp>
        <p:nvSpPr>
          <p:cNvPr id="10" name="evidence-chain-body">
            <a:extLst xmlns:a="http://schemas.openxmlformats.org/drawingml/2006/main">
              <a:ext uri="{FF2B5EF4-FFF2-40B4-BE49-F238E27FC236}">
                <a16:creationId xmlns:a16="http://schemas.microsoft.com/office/drawing/2014/main" id="{FD785F77-7196-44BE-95FF-4C9A9F582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76600"/>
            <a:ext cx="49911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Members finalize the same history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Hashes and receipts bind every hand-off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Clients verify proofs instead of trusting one API</a:t>
            </a:r>
          </a:p>
        </p:txBody>
      </p:sp>
    </p:spTree>
    <p:extLst>
      <p:ext uri="{BB962C8B-B14F-4D97-AF65-F5344CB8AC3E}">
        <p14:creationId xmlns:p14="http://schemas.microsoft.com/office/powerpoint/2010/main" val="168947757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kicker-3">
            <a:extLst xmlns:a="http://schemas.openxmlformats.org/drawingml/2006/main">
              <a:ext uri="{FF2B5EF4-FFF2-40B4-BE49-F238E27FC236}">
                <a16:creationId xmlns:a16="http://schemas.microsoft.com/office/drawing/2014/main" id="{CF4CE296-43B5-4202-91CA-9559609E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YANO EVIDENCE CHAIN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7AC3A532-388E-46F7-8E92-7E752225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72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record becomes a verifiable evidence package</a:t>
            </a:r>
          </a:p>
        </p:txBody>
      </p:sp>
      <p:sp>
        <p:nvSpPr>
          <p:cNvPr id="3" name="footer-3">
            <a:extLst xmlns:a="http://schemas.openxmlformats.org/drawingml/2006/main">
              <a:ext uri="{FF2B5EF4-FFF2-40B4-BE49-F238E27FC236}">
                <a16:creationId xmlns:a16="http://schemas.microsoft.com/office/drawing/2014/main" id="{CBDC95BF-5570-4A3F-A746-C4E9D016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B7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4" name="doc-to-chain">
            <a:extLst xmlns:a="http://schemas.openxmlformats.org/drawingml/2006/main">
              <a:ext uri="{FF2B5EF4-FFF2-40B4-BE49-F238E27FC236}">
                <a16:creationId xmlns:a16="http://schemas.microsoft.com/office/drawing/2014/main" id="{7B437DC8-F1A9-482F-95F7-4A1E85F0A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143250"/>
            <a:ext cx="5715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o-s3">
            <a:extLst xmlns:a="http://schemas.openxmlformats.org/drawingml/2006/main">
              <a:ext uri="{FF2B5EF4-FFF2-40B4-BE49-F238E27FC236}">
                <a16:creationId xmlns:a16="http://schemas.microsoft.com/office/drawing/2014/main" id="{3F7153BF-86C3-4069-A195-9C743F84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228850"/>
            <a:ext cx="5143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o-ipfs">
            <a:extLst xmlns:a="http://schemas.openxmlformats.org/drawingml/2006/main">
              <a:ext uri="{FF2B5EF4-FFF2-40B4-BE49-F238E27FC236}">
                <a16:creationId xmlns:a16="http://schemas.microsoft.com/office/drawing/2014/main" id="{7E8CC12B-899D-4E81-B145-210A91D1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57550"/>
            <a:ext cx="5143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o-kafka">
            <a:extLst xmlns:a="http://schemas.openxmlformats.org/drawingml/2006/main">
              <a:ext uri="{FF2B5EF4-FFF2-40B4-BE49-F238E27FC236}">
                <a16:creationId xmlns:a16="http://schemas.microsoft.com/office/drawing/2014/main" id="{01896C86-D38C-464A-BB73-3970E0DD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286250"/>
            <a:ext cx="5143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o-cardano">
            <a:extLst xmlns:a="http://schemas.openxmlformats.org/drawingml/2006/main">
              <a:ext uri="{FF2B5EF4-FFF2-40B4-BE49-F238E27FC236}">
                <a16:creationId xmlns:a16="http://schemas.microsoft.com/office/drawing/2014/main" id="{F0FEF52B-E15F-48C8-A4EA-EEF1171E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314950"/>
            <a:ext cx="5143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ertificate-surface">
            <a:extLst xmlns:a="http://schemas.openxmlformats.org/drawingml/2006/main">
              <a:ext uri="{FF2B5EF4-FFF2-40B4-BE49-F238E27FC236}">
                <a16:creationId xmlns:a16="http://schemas.microsoft.com/office/drawing/2014/main" id="{07932259-A970-4095-B7B8-12743AFC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9850"/>
            <a:ext cx="2152650" cy="16573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ertificate-title">
            <a:extLst xmlns:a="http://schemas.openxmlformats.org/drawingml/2006/main">
              <a:ext uri="{FF2B5EF4-FFF2-40B4-BE49-F238E27FC236}">
                <a16:creationId xmlns:a16="http://schemas.microsoft.com/office/drawing/2014/main" id="{0C94F9C7-FB2E-4A74-A5F4-411DAD02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165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Inspection certificate</a:t>
            </a:r>
          </a:p>
        </p:txBody>
      </p:sp>
      <p:sp>
        <p:nvSpPr>
          <p:cNvPr id="11" name="certificate-body">
            <a:extLst xmlns:a="http://schemas.openxmlformats.org/drawingml/2006/main">
              <a:ext uri="{FF2B5EF4-FFF2-40B4-BE49-F238E27FC236}">
                <a16:creationId xmlns:a16="http://schemas.microsoft.com/office/drawing/2014/main" id="{C37FBFCB-B067-43E4-9E10-C1033CF7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9950"/>
            <a:ext cx="1657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807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Exact bytes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Business identity</a:t>
            </a:r>
          </a:p>
        </p:txBody>
      </p:sp>
      <p:sp>
        <p:nvSpPr>
          <p:cNvPr id="12" name="chain-surface">
            <a:extLst xmlns:a="http://schemas.openxmlformats.org/drawingml/2006/main">
              <a:ext uri="{FF2B5EF4-FFF2-40B4-BE49-F238E27FC236}">
                <a16:creationId xmlns:a16="http://schemas.microsoft.com/office/drawing/2014/main" id="{23F68160-83C3-4F26-A096-2FC5C79F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905000"/>
            <a:ext cx="409575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hain-title">
            <a:extLst xmlns:a="http://schemas.openxmlformats.org/drawingml/2006/main">
              <a:ext uri="{FF2B5EF4-FFF2-40B4-BE49-F238E27FC236}">
                <a16:creationId xmlns:a16="http://schemas.microsoft.com/office/drawing/2014/main" id="{D7F73DFF-E7E8-41AD-BF55-4E3EAAC2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52650"/>
            <a:ext cx="3600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192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Three-member evidence chain</a:t>
            </a:r>
          </a:p>
        </p:txBody>
      </p:sp>
      <p:sp>
        <p:nvSpPr>
          <p:cNvPr id="14" name="chain-body">
            <a:extLst xmlns:a="http://schemas.openxmlformats.org/drawingml/2006/main">
              <a:ext uri="{FF2B5EF4-FFF2-40B4-BE49-F238E27FC236}">
                <a16:creationId xmlns:a16="http://schemas.microsoft.com/office/drawing/2014/main" id="{514C11F3-353F-4102-9A7A-23022862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05100"/>
            <a:ext cx="36004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Approval and immutable version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Authenticated state and effects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Threshold finality and proofs</a:t>
            </a:r>
          </a:p>
        </p:txBody>
      </p:sp>
      <p:sp>
        <p:nvSpPr>
          <p:cNvPr id="15" name="s3-surface">
            <a:extLst xmlns:a="http://schemas.openxmlformats.org/drawingml/2006/main">
              <a:ext uri="{FF2B5EF4-FFF2-40B4-BE49-F238E27FC236}">
                <a16:creationId xmlns:a16="http://schemas.microsoft.com/office/drawing/2014/main" id="{20DBCFD5-97A7-4671-9F46-78859BEE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52600"/>
            <a:ext cx="3714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3-title">
            <a:extLst xmlns:a="http://schemas.openxmlformats.org/drawingml/2006/main">
              <a:ext uri="{FF2B5EF4-FFF2-40B4-BE49-F238E27FC236}">
                <a16:creationId xmlns:a16="http://schemas.microsoft.com/office/drawing/2014/main" id="{9E6E17AC-9BE6-41CF-BB51-A7A83D4D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924050"/>
            <a:ext cx="3371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Object archive</a:t>
            </a:r>
          </a:p>
        </p:txBody>
      </p:sp>
      <p:sp>
        <p:nvSpPr>
          <p:cNvPr id="17" name="s3-body">
            <a:extLst xmlns:a="http://schemas.openxmlformats.org/drawingml/2006/main">
              <a:ext uri="{FF2B5EF4-FFF2-40B4-BE49-F238E27FC236}">
                <a16:creationId xmlns:a16="http://schemas.microsoft.com/office/drawing/2014/main" id="{9C5AB0C3-BF65-4A2E-AED6-1795B871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47900"/>
            <a:ext cx="3371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561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Exact bytes + version ID</a:t>
            </a:r>
          </a:p>
        </p:txBody>
      </p:sp>
      <p:sp>
        <p:nvSpPr>
          <p:cNvPr id="18" name="ipfs-surface">
            <a:extLst xmlns:a="http://schemas.openxmlformats.org/drawingml/2006/main">
              <a:ext uri="{FF2B5EF4-FFF2-40B4-BE49-F238E27FC236}">
                <a16:creationId xmlns:a16="http://schemas.microsoft.com/office/drawing/2014/main" id="{12767035-248B-4BE7-B4DE-15D6B66F5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81300"/>
            <a:ext cx="3714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ipfs-title">
            <a:extLst xmlns:a="http://schemas.openxmlformats.org/drawingml/2006/main">
              <a:ext uri="{FF2B5EF4-FFF2-40B4-BE49-F238E27FC236}">
                <a16:creationId xmlns:a16="http://schemas.microsoft.com/office/drawing/2014/main" id="{7C9373D7-CCAC-4185-A0FF-AFFA6F75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952750"/>
            <a:ext cx="3371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IPFS</a:t>
            </a:r>
          </a:p>
        </p:txBody>
      </p:sp>
      <p:sp>
        <p:nvSpPr>
          <p:cNvPr id="20" name="ipfs-body">
            <a:extLst xmlns:a="http://schemas.openxmlformats.org/drawingml/2006/main">
              <a:ext uri="{FF2B5EF4-FFF2-40B4-BE49-F238E27FC236}">
                <a16:creationId xmlns:a16="http://schemas.microsoft.com/office/drawing/2014/main" id="{7667C477-B254-40CD-A2A9-2B570549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76600"/>
            <a:ext cx="3371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561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CID + retrieved bytes + pin</a:t>
            </a:r>
          </a:p>
        </p:txBody>
      </p:sp>
      <p:sp>
        <p:nvSpPr>
          <p:cNvPr id="21" name="kafka-surface">
            <a:extLst xmlns:a="http://schemas.openxmlformats.org/drawingml/2006/main">
              <a:ext uri="{FF2B5EF4-FFF2-40B4-BE49-F238E27FC236}">
                <a16:creationId xmlns:a16="http://schemas.microsoft.com/office/drawing/2014/main" id="{ECE6FD2C-87FB-4115-903C-0C3E4814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810000"/>
            <a:ext cx="3714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kafka-title">
            <a:extLst xmlns:a="http://schemas.openxmlformats.org/drawingml/2006/main">
              <a:ext uri="{FF2B5EF4-FFF2-40B4-BE49-F238E27FC236}">
                <a16:creationId xmlns:a16="http://schemas.microsoft.com/office/drawing/2014/main" id="{C7A262CF-BC44-41A8-A392-03B80B7F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81450"/>
            <a:ext cx="3371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Kafka</a:t>
            </a:r>
          </a:p>
        </p:txBody>
      </p:sp>
      <p:sp>
        <p:nvSpPr>
          <p:cNvPr id="23" name="kafka-body">
            <a:extLst xmlns:a="http://schemas.openxmlformats.org/drawingml/2006/main">
              <a:ext uri="{FF2B5EF4-FFF2-40B4-BE49-F238E27FC236}">
                <a16:creationId xmlns:a16="http://schemas.microsoft.com/office/drawing/2014/main" id="{92A74955-2152-40B6-8A69-06535EF1A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305300"/>
            <a:ext cx="3371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561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Availability event + acknowledgement</a:t>
            </a:r>
          </a:p>
        </p:txBody>
      </p:sp>
      <p:sp>
        <p:nvSpPr>
          <p:cNvPr id="24" name="cardano-surface">
            <a:extLst xmlns:a="http://schemas.openxmlformats.org/drawingml/2006/main">
              <a:ext uri="{FF2B5EF4-FFF2-40B4-BE49-F238E27FC236}">
                <a16:creationId xmlns:a16="http://schemas.microsoft.com/office/drawing/2014/main" id="{D84107A5-75AA-45C8-9679-EF088FDB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838700"/>
            <a:ext cx="3714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ardano-title">
            <a:extLst xmlns:a="http://schemas.openxmlformats.org/drawingml/2006/main">
              <a:ext uri="{FF2B5EF4-FFF2-40B4-BE49-F238E27FC236}">
                <a16:creationId xmlns:a16="http://schemas.microsoft.com/office/drawing/2014/main" id="{B1E4EE90-D1B9-4CDE-9A5C-023360DA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010150"/>
            <a:ext cx="3371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Cardano</a:t>
            </a:r>
          </a:p>
        </p:txBody>
      </p:sp>
      <p:sp>
        <p:nvSpPr>
          <p:cNvPr id="26" name="cardano-body">
            <a:extLst xmlns:a="http://schemas.openxmlformats.org/drawingml/2006/main">
              <a:ext uri="{FF2B5EF4-FFF2-40B4-BE49-F238E27FC236}">
                <a16:creationId xmlns:a16="http://schemas.microsoft.com/office/drawing/2014/main" id="{2CC234B4-7A31-4725-84F2-978A27D4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34000"/>
            <a:ext cx="3371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4561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Certified app-chain root anchor</a:t>
            </a:r>
          </a:p>
        </p:txBody>
      </p:sp>
    </p:spTree>
    <p:extLst>
      <p:ext uri="{BB962C8B-B14F-4D97-AF65-F5344CB8AC3E}">
        <p14:creationId xmlns:p14="http://schemas.microsoft.com/office/powerpoint/2010/main" val="17880544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-4">
            <a:extLst xmlns:a="http://schemas.openxmlformats.org/drawingml/2006/main">
              <a:ext uri="{FF2B5EF4-FFF2-40B4-BE49-F238E27FC236}">
                <a16:creationId xmlns:a16="http://schemas.microsoft.com/office/drawing/2014/main" id="{8650D3C0-BEB3-4FF6-9E49-736AC179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YANO EVIDENCE CHAIN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8BF11715-4FA8-4E6E-8202-F2FEF51E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093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Three members agree; only one needs connector credentials</a:t>
            </a:r>
          </a:p>
        </p:txBody>
      </p:sp>
      <p:sp>
        <p:nvSpPr>
          <p:cNvPr id="3" name="footer-4">
            <a:extLst xmlns:a="http://schemas.openxmlformats.org/drawingml/2006/main">
              <a:ext uri="{FF2B5EF4-FFF2-40B4-BE49-F238E27FC236}">
                <a16:creationId xmlns:a16="http://schemas.microsoft.com/office/drawing/2014/main" id="{70CD8932-7247-4681-A1FA-4F13B4B3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B7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4" name="member-line-1">
            <a:extLst xmlns:a="http://schemas.openxmlformats.org/drawingml/2006/main">
              <a:ext uri="{FF2B5EF4-FFF2-40B4-BE49-F238E27FC236}">
                <a16:creationId xmlns:a16="http://schemas.microsoft.com/office/drawing/2014/main" id="{ADF4AE89-529A-4349-9B97-29C480E2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81300"/>
            <a:ext cx="723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5" name="member-line-2">
            <a:extLst xmlns:a="http://schemas.openxmlformats.org/drawingml/2006/main">
              <a:ext uri="{FF2B5EF4-FFF2-40B4-BE49-F238E27FC236}">
                <a16:creationId xmlns:a16="http://schemas.microsoft.com/office/drawing/2014/main" id="{826D82A7-BB10-4CFD-BCB7-71498017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24100"/>
            <a:ext cx="400050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6" name="node0-surface">
            <a:extLst xmlns:a="http://schemas.openxmlformats.org/drawingml/2006/main">
              <a:ext uri="{FF2B5EF4-FFF2-40B4-BE49-F238E27FC236}">
                <a16:creationId xmlns:a16="http://schemas.microsoft.com/office/drawing/2014/main" id="{5CCC7698-AAC0-4807-B222-84F995DE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31432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node0-title">
            <a:extLst xmlns:a="http://schemas.openxmlformats.org/drawingml/2006/main">
              <a:ext uri="{FF2B5EF4-FFF2-40B4-BE49-F238E27FC236}">
                <a16:creationId xmlns:a16="http://schemas.microsoft.com/office/drawing/2014/main" id="{953D08FC-4FA8-4E48-8F00-27B8C76E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2647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Node 0</a:t>
            </a:r>
          </a:p>
        </p:txBody>
      </p:sp>
      <p:sp>
        <p:nvSpPr>
          <p:cNvPr id="8" name="node0-body">
            <a:extLst xmlns:a="http://schemas.openxmlformats.org/drawingml/2006/main">
              <a:ext uri="{FF2B5EF4-FFF2-40B4-BE49-F238E27FC236}">
                <a16:creationId xmlns:a16="http://schemas.microsoft.com/office/drawing/2014/main" id="{683FFBA3-6633-4698-B890-F3F6898C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26479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Proposer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Member</a:t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Effect executor</a:t>
            </a:r>
          </a:p>
        </p:txBody>
      </p:sp>
      <p:sp>
        <p:nvSpPr>
          <p:cNvPr id="9" name="node1-surface">
            <a:extLst xmlns:a="http://schemas.openxmlformats.org/drawingml/2006/main">
              <a:ext uri="{FF2B5EF4-FFF2-40B4-BE49-F238E27FC236}">
                <a16:creationId xmlns:a16="http://schemas.microsoft.com/office/drawing/2014/main" id="{6CC88DD8-3780-42DD-90C7-AD249285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38350"/>
            <a:ext cx="31432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node1-title">
            <a:extLst xmlns:a="http://schemas.openxmlformats.org/drawingml/2006/main">
              <a:ext uri="{FF2B5EF4-FFF2-40B4-BE49-F238E27FC236}">
                <a16:creationId xmlns:a16="http://schemas.microsoft.com/office/drawing/2014/main" id="{43B6E36D-9E54-41CA-B70D-E04D6B37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86000"/>
            <a:ext cx="2647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Node 1</a:t>
            </a:r>
          </a:p>
        </p:txBody>
      </p:sp>
      <p:sp>
        <p:nvSpPr>
          <p:cNvPr id="11" name="node1-body">
            <a:extLst xmlns:a="http://schemas.openxmlformats.org/drawingml/2006/main">
              <a:ext uri="{FF2B5EF4-FFF2-40B4-BE49-F238E27FC236}">
                <a16:creationId xmlns:a16="http://schemas.microsoft.com/office/drawing/2014/main" id="{EE35FFD3-430A-45DD-82D9-B64B81EA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38450"/>
            <a:ext cx="26479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Member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Independent execution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 connector secret</a:t>
            </a:r>
          </a:p>
        </p:txBody>
      </p:sp>
      <p:sp>
        <p:nvSpPr>
          <p:cNvPr id="12" name="node2-surface">
            <a:extLst xmlns:a="http://schemas.openxmlformats.org/drawingml/2006/main">
              <a:ext uri="{FF2B5EF4-FFF2-40B4-BE49-F238E27FC236}">
                <a16:creationId xmlns:a16="http://schemas.microsoft.com/office/drawing/2014/main" id="{F5F1FF9D-AD2D-4F99-B5C6-E953AA93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38350"/>
            <a:ext cx="314325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node2-title">
            <a:extLst xmlns:a="http://schemas.openxmlformats.org/drawingml/2006/main">
              <a:ext uri="{FF2B5EF4-FFF2-40B4-BE49-F238E27FC236}">
                <a16:creationId xmlns:a16="http://schemas.microsoft.com/office/drawing/2014/main" id="{F2D01F07-9016-4C5C-A806-6CD9C77A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86000"/>
            <a:ext cx="2647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Node 2</a:t>
            </a:r>
          </a:p>
        </p:txBody>
      </p:sp>
      <p:sp>
        <p:nvSpPr>
          <p:cNvPr id="14" name="node2-body">
            <a:extLst xmlns:a="http://schemas.openxmlformats.org/drawingml/2006/main">
              <a:ext uri="{FF2B5EF4-FFF2-40B4-BE49-F238E27FC236}">
                <a16:creationId xmlns:a16="http://schemas.microsoft.com/office/drawing/2014/main" id="{70E014FC-AB84-4AA4-8797-7B6A7ED6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838450"/>
            <a:ext cx="26479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Member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Independent execution</a:t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 connector secret</a:t>
            </a:r>
          </a:p>
        </p:txBody>
      </p:sp>
      <p:sp>
        <p:nvSpPr>
          <p:cNvPr id="15" name="threshold">
            <a:extLst xmlns:a="http://schemas.openxmlformats.org/drawingml/2006/main">
              <a:ext uri="{FF2B5EF4-FFF2-40B4-BE49-F238E27FC236}">
                <a16:creationId xmlns:a16="http://schemas.microsoft.com/office/drawing/2014/main" id="{81BEA351-26C5-4DC7-91E4-3823FA10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62500"/>
            <a:ext cx="59055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of 3 signatures finalize an app block</a:t>
            </a:r>
          </a:p>
        </p:txBody>
      </p:sp>
      <p:sp>
        <p:nvSpPr>
          <p:cNvPr id="16" name="member-takeaway">
            <a:extLst xmlns:a="http://schemas.openxmlformats.org/drawingml/2006/main">
              <a:ext uri="{FF2B5EF4-FFF2-40B4-BE49-F238E27FC236}">
                <a16:creationId xmlns:a16="http://schemas.microsoft.com/office/drawing/2014/main" id="{F7382D2B-B2D3-45B8-A7C4-B31D864D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197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773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626B7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26B77"/>
                </a:solidFill>
                <a:latin typeface="Arial"/>
                <a:ea typeface="Arial"/>
                <a:cs typeface="Arial"/>
              </a:rPr>
              <a:t>The proposer orders messages. It cannot make honest members sign a root they did not derive.</a:t>
            </a:r>
          </a:p>
        </p:txBody>
      </p:sp>
    </p:spTree>
    <p:extLst>
      <p:ext uri="{BB962C8B-B14F-4D97-AF65-F5344CB8AC3E}">
        <p14:creationId xmlns:p14="http://schemas.microsoft.com/office/powerpoint/2010/main" val="4171327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-5">
            <a:extLst xmlns:a="http://schemas.openxmlformats.org/drawingml/2006/main">
              <a:ext uri="{FF2B5EF4-FFF2-40B4-BE49-F238E27FC236}">
                <a16:creationId xmlns:a16="http://schemas.microsoft.com/office/drawing/2014/main" id="{022FCB6D-8E27-4A5E-9360-DF91A49B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YANO EVIDENCE CHAIN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C788FF1A-035C-4BEF-8226-446BD14F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822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stock composite turns four policies into one atomic decision</a:t>
            </a:r>
          </a:p>
        </p:txBody>
      </p:sp>
      <p:sp>
        <p:nvSpPr>
          <p:cNvPr id="3" name="footer-5">
            <a:extLst xmlns:a="http://schemas.openxmlformats.org/drawingml/2006/main">
              <a:ext uri="{FF2B5EF4-FFF2-40B4-BE49-F238E27FC236}">
                <a16:creationId xmlns:a16="http://schemas.microsoft.com/office/drawing/2014/main" id="{F9CCD7ED-8AF7-4F21-B24C-1AAE97AA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B7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4" name="profile-line-138">
            <a:extLst xmlns:a="http://schemas.openxmlformats.org/drawingml/2006/main">
              <a:ext uri="{FF2B5EF4-FFF2-40B4-BE49-F238E27FC236}">
                <a16:creationId xmlns:a16="http://schemas.microsoft.com/office/drawing/2014/main" id="{21B6AB15-79F1-4663-82E9-A4A2291A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90525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5" name="profile-line-420">
            <a:extLst xmlns:a="http://schemas.openxmlformats.org/drawingml/2006/main">
              <a:ext uri="{FF2B5EF4-FFF2-40B4-BE49-F238E27FC236}">
                <a16:creationId xmlns:a16="http://schemas.microsoft.com/office/drawing/2014/main" id="{65C48FA2-6A45-450F-AD49-3863346C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0525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6" name="profile-line-702">
            <a:extLst xmlns:a="http://schemas.openxmlformats.org/drawingml/2006/main">
              <a:ext uri="{FF2B5EF4-FFF2-40B4-BE49-F238E27FC236}">
                <a16:creationId xmlns:a16="http://schemas.microsoft.com/office/drawing/2014/main" id="{FA705FB7-2F4E-4D8E-9408-607A30B1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90525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7" name="profile-line-984">
            <a:extLst xmlns:a="http://schemas.openxmlformats.org/drawingml/2006/main">
              <a:ext uri="{FF2B5EF4-FFF2-40B4-BE49-F238E27FC236}">
                <a16:creationId xmlns:a16="http://schemas.microsoft.com/office/drawing/2014/main" id="{B64A17FA-0CC9-449A-B261-6AD4DED2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90525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8" name="profile-root-line">
            <a:extLst xmlns:a="http://schemas.openxmlformats.org/drawingml/2006/main">
              <a:ext uri="{FF2B5EF4-FFF2-40B4-BE49-F238E27FC236}">
                <a16:creationId xmlns:a16="http://schemas.microsoft.com/office/drawing/2014/main" id="{753AB902-E4E5-4D5A-9377-D1913636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724400"/>
            <a:ext cx="805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9" name="profile-0-surface">
            <a:extLst xmlns:a="http://schemas.openxmlformats.org/drawingml/2006/main">
              <a:ext uri="{FF2B5EF4-FFF2-40B4-BE49-F238E27FC236}">
                <a16:creationId xmlns:a16="http://schemas.microsoft.com/office/drawing/2014/main" id="{2FD92FD9-4E37-4B15-B460-B9D01A14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43100"/>
            <a:ext cx="2381250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ofile-0-title">
            <a:extLst xmlns:a="http://schemas.openxmlformats.org/drawingml/2006/main">
              <a:ext uri="{FF2B5EF4-FFF2-40B4-BE49-F238E27FC236}">
                <a16:creationId xmlns:a16="http://schemas.microsoft.com/office/drawing/2014/main" id="{BFFFDDE6-957C-42CA-A33D-8B89A35D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885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Registry</a:t>
            </a:r>
          </a:p>
        </p:txBody>
      </p:sp>
      <p:sp>
        <p:nvSpPr>
          <p:cNvPr id="11" name="profile-0-body">
            <a:extLst xmlns:a="http://schemas.openxmlformats.org/drawingml/2006/main">
              <a:ext uri="{FF2B5EF4-FFF2-40B4-BE49-F238E27FC236}">
                <a16:creationId xmlns:a16="http://schemas.microsoft.com/office/drawing/2014/main" id="{5EC78D75-63B7-41E8-B174-2ED1E82B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43200"/>
            <a:ext cx="1885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Who/what identity is being published</a:t>
            </a:r>
          </a:p>
        </p:txBody>
      </p:sp>
      <p:sp>
        <p:nvSpPr>
          <p:cNvPr id="12" name="profile-1-surface">
            <a:extLst xmlns:a="http://schemas.openxmlformats.org/drawingml/2006/main">
              <a:ext uri="{FF2B5EF4-FFF2-40B4-BE49-F238E27FC236}">
                <a16:creationId xmlns:a16="http://schemas.microsoft.com/office/drawing/2014/main" id="{54B4CA67-EC0E-4E68-8CDB-C685E39E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43100"/>
            <a:ext cx="2381250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rofile-1-title">
            <a:extLst xmlns:a="http://schemas.openxmlformats.org/drawingml/2006/main">
              <a:ext uri="{FF2B5EF4-FFF2-40B4-BE49-F238E27FC236}">
                <a16:creationId xmlns:a16="http://schemas.microsoft.com/office/drawing/2014/main" id="{9136B409-8046-453C-8F96-F8E3C723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190750"/>
            <a:ext cx="1885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Approvals</a:t>
            </a:r>
          </a:p>
        </p:txBody>
      </p:sp>
      <p:sp>
        <p:nvSpPr>
          <p:cNvPr id="14" name="profile-1-body">
            <a:extLst xmlns:a="http://schemas.openxmlformats.org/drawingml/2006/main">
              <a:ext uri="{FF2B5EF4-FFF2-40B4-BE49-F238E27FC236}">
                <a16:creationId xmlns:a16="http://schemas.microsoft.com/office/drawing/2014/main" id="{A08B7DA7-675D-47F8-9955-70D3D7C0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43200"/>
            <a:ext cx="1885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Which exact command is authorized</a:t>
            </a:r>
          </a:p>
        </p:txBody>
      </p:sp>
      <p:sp>
        <p:nvSpPr>
          <p:cNvPr id="15" name="profile-2-surface">
            <a:extLst xmlns:a="http://schemas.openxmlformats.org/drawingml/2006/main">
              <a:ext uri="{FF2B5EF4-FFF2-40B4-BE49-F238E27FC236}">
                <a16:creationId xmlns:a16="http://schemas.microsoft.com/office/drawing/2014/main" id="{FE8954CF-57D7-4DC8-91E2-C389969B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943100"/>
            <a:ext cx="2381250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rofile-2-title">
            <a:extLst xmlns:a="http://schemas.openxmlformats.org/drawingml/2006/main">
              <a:ext uri="{FF2B5EF4-FFF2-40B4-BE49-F238E27FC236}">
                <a16:creationId xmlns:a16="http://schemas.microsoft.com/office/drawing/2014/main" id="{57448D91-1107-41AD-AE42-51D880D6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90750"/>
            <a:ext cx="1885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8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Document trail</a:t>
            </a:r>
          </a:p>
        </p:txBody>
      </p:sp>
      <p:sp>
        <p:nvSpPr>
          <p:cNvPr id="17" name="profile-2-body">
            <a:extLst xmlns:a="http://schemas.openxmlformats.org/drawingml/2006/main">
              <a:ext uri="{FF2B5EF4-FFF2-40B4-BE49-F238E27FC236}">
                <a16:creationId xmlns:a16="http://schemas.microsoft.com/office/drawing/2014/main" id="{D2A66E8B-B04D-4242-9DB2-D3ADFD3A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43200"/>
            <a:ext cx="1885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Which document event is appended</a:t>
            </a:r>
          </a:p>
        </p:txBody>
      </p:sp>
      <p:sp>
        <p:nvSpPr>
          <p:cNvPr id="18" name="profile-3-surface">
            <a:extLst xmlns:a="http://schemas.openxmlformats.org/drawingml/2006/main">
              <a:ext uri="{FF2B5EF4-FFF2-40B4-BE49-F238E27FC236}">
                <a16:creationId xmlns:a16="http://schemas.microsoft.com/office/drawing/2014/main" id="{042F28DA-9F3A-4F20-A736-F293DDE5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943100"/>
            <a:ext cx="2381250" cy="196215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rofile-3-title">
            <a:extLst xmlns:a="http://schemas.openxmlformats.org/drawingml/2006/main">
              <a:ext uri="{FF2B5EF4-FFF2-40B4-BE49-F238E27FC236}">
                <a16:creationId xmlns:a16="http://schemas.microsoft.com/office/drawing/2014/main" id="{67785D9B-D94A-4447-A25B-1C46C3A7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90750"/>
            <a:ext cx="1885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20" name="profile-3-body">
            <a:extLst xmlns:a="http://schemas.openxmlformats.org/drawingml/2006/main">
              <a:ext uri="{FF2B5EF4-FFF2-40B4-BE49-F238E27FC236}">
                <a16:creationId xmlns:a16="http://schemas.microsoft.com/office/drawing/2014/main" id="{C6A48C61-F7A5-421A-8582-49481E10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43200"/>
            <a:ext cx="1885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Which version, effects, and status exist</a:t>
            </a:r>
          </a:p>
        </p:txBody>
      </p:sp>
      <p:sp>
        <p:nvSpPr>
          <p:cNvPr id="21" name="one-root">
            <a:extLst xmlns:a="http://schemas.openxmlformats.org/drawingml/2006/main">
              <a:ext uri="{FF2B5EF4-FFF2-40B4-BE49-F238E27FC236}">
                <a16:creationId xmlns:a16="http://schemas.microsoft.com/office/drawing/2014/main" id="{B6342726-6B4A-4485-9000-BF37866D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724400"/>
            <a:ext cx="6629400" cy="1009650"/>
          </a:xfrm>
          <a:prstGeom xmlns:a="http://schemas.openxmlformats.org/drawingml/2006/main" prst="roundRect">
            <a:avLst>
              <a:gd name="adj" fmla="val 11321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one-root-text">
            <a:extLst xmlns:a="http://schemas.openxmlformats.org/drawingml/2006/main">
              <a:ext uri="{FF2B5EF4-FFF2-40B4-BE49-F238E27FC236}">
                <a16:creationId xmlns:a16="http://schemas.microsoft.com/office/drawing/2014/main" id="{A2065E56-72C3-4015-B156-731402CB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1015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4187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ordered profile • one atomic transition • one authenticated state root</a:t>
            </a:r>
          </a:p>
        </p:txBody>
      </p:sp>
    </p:spTree>
    <p:extLst>
      <p:ext uri="{BB962C8B-B14F-4D97-AF65-F5344CB8AC3E}">
        <p14:creationId xmlns:p14="http://schemas.microsoft.com/office/powerpoint/2010/main" val="45872744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-6">
            <a:extLst xmlns:a="http://schemas.openxmlformats.org/drawingml/2006/main">
              <a:ext uri="{FF2B5EF4-FFF2-40B4-BE49-F238E27FC236}">
                <a16:creationId xmlns:a16="http://schemas.microsoft.com/office/drawing/2014/main" id="{C4284AF5-8504-408E-AD4F-010A85C7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YANO EVIDENCE CHAIN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FB3A0B70-A87D-4D33-B281-CA62714B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953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Consensus records authorization; the executor handles uncertainty</a:t>
            </a:r>
          </a:p>
        </p:txBody>
      </p:sp>
      <p:sp>
        <p:nvSpPr>
          <p:cNvPr id="3" name="footer-6">
            <a:extLst xmlns:a="http://schemas.openxmlformats.org/drawingml/2006/main">
              <a:ext uri="{FF2B5EF4-FFF2-40B4-BE49-F238E27FC236}">
                <a16:creationId xmlns:a16="http://schemas.microsoft.com/office/drawing/2014/main" id="{CDD82035-55C9-4FB7-A6AF-7FE47CFA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B7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" name="intent-crossing">
            <a:extLst xmlns:a="http://schemas.openxmlformats.org/drawingml/2006/main">
              <a:ext uri="{FF2B5EF4-FFF2-40B4-BE49-F238E27FC236}">
                <a16:creationId xmlns:a16="http://schemas.microsoft.com/office/drawing/2014/main" id="{355C9C41-809C-4AF7-A521-5500FFFA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429000"/>
            <a:ext cx="99060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nsensus-plane-surface">
            <a:extLst xmlns:a="http://schemas.openxmlformats.org/drawingml/2006/main">
              <a:ext uri="{FF2B5EF4-FFF2-40B4-BE49-F238E27FC236}">
                <a16:creationId xmlns:a16="http://schemas.microsoft.com/office/drawing/2014/main" id="{6F6EB70E-B870-4E58-9867-3EBA35B5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4933950" cy="3790950"/>
          </a:xfrm>
          <a:prstGeom xmlns:a="http://schemas.openxmlformats.org/drawingml/2006/main" prst="roundRect">
            <a:avLst>
              <a:gd name="adj" fmla="val 3015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nsensus-plane-title">
            <a:extLst xmlns:a="http://schemas.openxmlformats.org/drawingml/2006/main">
              <a:ext uri="{FF2B5EF4-FFF2-40B4-BE49-F238E27FC236}">
                <a16:creationId xmlns:a16="http://schemas.microsoft.com/office/drawing/2014/main" id="{E5DB9EA7-5CD2-4E58-9671-F8B6441B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57400"/>
            <a:ext cx="4438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Consensus plane</a:t>
            </a:r>
          </a:p>
        </p:txBody>
      </p:sp>
      <p:sp>
        <p:nvSpPr>
          <p:cNvPr id="7" name="consensus-plane-body">
            <a:extLst xmlns:a="http://schemas.openxmlformats.org/drawingml/2006/main">
              <a:ext uri="{FF2B5EF4-FFF2-40B4-BE49-F238E27FC236}">
                <a16:creationId xmlns:a16="http://schemas.microsoft.com/office/drawing/2014/main" id="{4334F34E-CFF1-4EE3-8C5F-D8E112AE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443865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Same inputs on every member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Deterministic state transition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Immutable effect intent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Authenticated root and proofs</a:t>
            </a:r>
          </a:p>
        </p:txBody>
      </p:sp>
      <p:sp>
        <p:nvSpPr>
          <p:cNvPr id="8" name="execution-plane-surface">
            <a:extLst xmlns:a="http://schemas.openxmlformats.org/drawingml/2006/main">
              <a:ext uri="{FF2B5EF4-FFF2-40B4-BE49-F238E27FC236}">
                <a16:creationId xmlns:a16="http://schemas.microsoft.com/office/drawing/2014/main" id="{160273AD-2209-4E3E-9919-D2ED1610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09750"/>
            <a:ext cx="4705350" cy="3790950"/>
          </a:xfrm>
          <a:prstGeom xmlns:a="http://schemas.openxmlformats.org/drawingml/2006/main" prst="roundRect">
            <a:avLst>
              <a:gd name="adj" fmla="val 301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xecution-plane-title">
            <a:extLst xmlns:a="http://schemas.openxmlformats.org/drawingml/2006/main">
              <a:ext uri="{FF2B5EF4-FFF2-40B4-BE49-F238E27FC236}">
                <a16:creationId xmlns:a16="http://schemas.microsoft.com/office/drawing/2014/main" id="{762A7DC9-362A-4631-8632-E6B8D325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57400"/>
            <a:ext cx="4210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Execution plane</a:t>
            </a:r>
          </a:p>
        </p:txBody>
      </p:sp>
      <p:sp>
        <p:nvSpPr>
          <p:cNvPr id="10" name="execution-plane-body">
            <a:extLst xmlns:a="http://schemas.openxmlformats.org/drawingml/2006/main">
              <a:ext uri="{FF2B5EF4-FFF2-40B4-BE49-F238E27FC236}">
                <a16:creationId xmlns:a16="http://schemas.microsoft.com/office/drawing/2014/main" id="{B8FD70EE-1109-4751-B217-8EFCDA1F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09850"/>
            <a:ext cx="421005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Finality gate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S3 / IPFS / Kafka calls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Retries and reconciliation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Signed external receipt</a:t>
            </a:r>
          </a:p>
        </p:txBody>
      </p:sp>
      <p:sp>
        <p:nvSpPr>
          <p:cNvPr id="11" name="boundary-label">
            <a:extLst xmlns:a="http://schemas.openxmlformats.org/drawingml/2006/main">
              <a:ext uri="{FF2B5EF4-FFF2-40B4-BE49-F238E27FC236}">
                <a16:creationId xmlns:a16="http://schemas.microsoft.com/office/drawing/2014/main" id="{D99E338B-E0E5-47C2-8AF7-DAD9ABB7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905250"/>
            <a:ext cx="1200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intent →</a:t>
            </a:r>
          </a:p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execution</a:t>
            </a:r>
          </a:p>
          <a:p xmlns:a="http://schemas.openxmlformats.org/drawingml/2006/main">
            <a:pPr algn="ctr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← result</a:t>
            </a:r>
          </a:p>
        </p:txBody>
      </p:sp>
      <p:sp>
        <p:nvSpPr>
          <p:cNvPr id="12" name="plane-footer">
            <a:extLst xmlns:a="http://schemas.openxmlformats.org/drawingml/2006/main">
              <a:ext uri="{FF2B5EF4-FFF2-40B4-BE49-F238E27FC236}">
                <a16:creationId xmlns:a16="http://schemas.microsoft.com/office/drawing/2014/main" id="{A3FE7319-D2A3-4B0A-81E4-6E49414A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055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652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Exactly-once deterministic result incorporation over at-least-once external execution</a:t>
            </a:r>
          </a:p>
        </p:txBody>
      </p:sp>
    </p:spTree>
    <p:extLst>
      <p:ext uri="{BB962C8B-B14F-4D97-AF65-F5344CB8AC3E}">
        <p14:creationId xmlns:p14="http://schemas.microsoft.com/office/powerpoint/2010/main" val="201813759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7">
            <a:extLst xmlns:a="http://schemas.openxmlformats.org/drawingml/2006/main">
              <a:ext uri="{FF2B5EF4-FFF2-40B4-BE49-F238E27FC236}">
                <a16:creationId xmlns:a16="http://schemas.microsoft.com/office/drawing/2014/main" id="{C4952423-C567-4234-97D2-4412DC62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YANO EVIDENCE CHAIN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A13C579B-2A22-4B9F-8C9E-A9364D82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Publication begins with a fail-closed preflight</a:t>
            </a:r>
          </a:p>
        </p:txBody>
      </p:sp>
      <p:sp>
        <p:nvSpPr>
          <p:cNvPr id="3" name="footer-7">
            <a:extLst xmlns:a="http://schemas.openxmlformats.org/drawingml/2006/main">
              <a:ext uri="{FF2B5EF4-FFF2-40B4-BE49-F238E27FC236}">
                <a16:creationId xmlns:a16="http://schemas.microsoft.com/office/drawing/2014/main" id="{404AB674-E52B-4D1B-BAF7-6C286857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B7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4" name="preflight-rail">
            <a:extLst xmlns:a="http://schemas.openxmlformats.org/drawingml/2006/main">
              <a:ext uri="{FF2B5EF4-FFF2-40B4-BE49-F238E27FC236}">
                <a16:creationId xmlns:a16="http://schemas.microsoft.com/office/drawing/2014/main" id="{5B5229F9-7D03-436E-B6C3-A66D6661B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81350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BCC4"/>
            </a:solidFill>
            <a:prstDash val="solid"/>
          </a:ln>
        </p:spPr>
      </p:sp>
      <p:sp>
        <p:nvSpPr>
          <p:cNvPr id="5" name="preflight-dot-0">
            <a:extLst xmlns:a="http://schemas.openxmlformats.org/drawingml/2006/main">
              <a:ext uri="{FF2B5EF4-FFF2-40B4-BE49-F238E27FC236}">
                <a16:creationId xmlns:a16="http://schemas.microsoft.com/office/drawing/2014/main" id="{BEB54345-6504-4FA2-BE1C-81C26F9F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86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eflight-dot-1">
            <a:extLst xmlns:a="http://schemas.openxmlformats.org/drawingml/2006/main">
              <a:ext uri="{FF2B5EF4-FFF2-40B4-BE49-F238E27FC236}">
                <a16:creationId xmlns:a16="http://schemas.microsoft.com/office/drawing/2014/main" id="{202AB981-8888-4B55-96C8-45DC1864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eflight-dot-2">
            <a:extLst xmlns:a="http://schemas.openxmlformats.org/drawingml/2006/main">
              <a:ext uri="{FF2B5EF4-FFF2-40B4-BE49-F238E27FC236}">
                <a16:creationId xmlns:a16="http://schemas.microsoft.com/office/drawing/2014/main" id="{9668C3EC-2837-4ED5-9A99-517033856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86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reflight-1-label">
            <a:extLst xmlns:a="http://schemas.openxmlformats.org/drawingml/2006/main">
              <a:ext uri="{FF2B5EF4-FFF2-40B4-BE49-F238E27FC236}">
                <a16:creationId xmlns:a16="http://schemas.microsoft.com/office/drawing/2014/main" id="{61BEDC70-469E-46D5-BD77-251058E2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146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preflight-2-label">
            <a:extLst xmlns:a="http://schemas.openxmlformats.org/drawingml/2006/main">
              <a:ext uri="{FF2B5EF4-FFF2-40B4-BE49-F238E27FC236}">
                <a16:creationId xmlns:a16="http://schemas.microsoft.com/office/drawing/2014/main" id="{C199405D-D094-4F55-9C3E-C07E435F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146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preflight-3-label">
            <a:extLst xmlns:a="http://schemas.openxmlformats.org/drawingml/2006/main">
              <a:ext uri="{FF2B5EF4-FFF2-40B4-BE49-F238E27FC236}">
                <a16:creationId xmlns:a16="http://schemas.microsoft.com/office/drawing/2014/main" id="{9F7FD763-97C5-4071-834D-D2488316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5146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preflight-file-surface">
            <a:extLst xmlns:a="http://schemas.openxmlformats.org/drawingml/2006/main">
              <a:ext uri="{FF2B5EF4-FFF2-40B4-BE49-F238E27FC236}">
                <a16:creationId xmlns:a16="http://schemas.microsoft.com/office/drawing/2014/main" id="{02BF3306-7706-414A-A732-A942B03C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3371850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reflight-file-title">
            <a:extLst xmlns:a="http://schemas.openxmlformats.org/drawingml/2006/main">
              <a:ext uri="{FF2B5EF4-FFF2-40B4-BE49-F238E27FC236}">
                <a16:creationId xmlns:a16="http://schemas.microsoft.com/office/drawing/2014/main" id="{AE3557BF-0F32-4A50-B5F4-03D3A05A0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8620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Bound the input</a:t>
            </a:r>
          </a:p>
        </p:txBody>
      </p:sp>
      <p:sp>
        <p:nvSpPr>
          <p:cNvPr id="13" name="preflight-file-body">
            <a:extLst xmlns:a="http://schemas.openxmlformats.org/drawingml/2006/main">
              <a:ext uri="{FF2B5EF4-FFF2-40B4-BE49-F238E27FC236}">
                <a16:creationId xmlns:a16="http://schemas.microsoft.com/office/drawing/2014/main" id="{AA9EC1A9-C2FB-4089-AA49-B4713DE5E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38650"/>
            <a:ext cx="2876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Owner-controlled regular file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Stable private copy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Hash and size</a:t>
            </a:r>
          </a:p>
        </p:txBody>
      </p:sp>
      <p:sp>
        <p:nvSpPr>
          <p:cNvPr id="14" name="preflight-state-surface">
            <a:extLst xmlns:a="http://schemas.openxmlformats.org/drawingml/2006/main">
              <a:ext uri="{FF2B5EF4-FFF2-40B4-BE49-F238E27FC236}">
                <a16:creationId xmlns:a16="http://schemas.microsoft.com/office/drawing/2014/main" id="{F320A03D-F863-493B-BF82-EDD808E8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38550"/>
            <a:ext cx="3371850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reflight-state-title">
            <a:extLst xmlns:a="http://schemas.openxmlformats.org/drawingml/2006/main">
              <a:ext uri="{FF2B5EF4-FFF2-40B4-BE49-F238E27FC236}">
                <a16:creationId xmlns:a16="http://schemas.microsoft.com/office/drawing/2014/main" id="{7B009E7B-5627-4FB0-9E2F-F2D04EC0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8620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Prove state</a:t>
            </a:r>
          </a:p>
        </p:txBody>
      </p:sp>
      <p:sp>
        <p:nvSpPr>
          <p:cNvPr id="16" name="preflight-state-body">
            <a:extLst xmlns:a="http://schemas.openxmlformats.org/drawingml/2006/main">
              <a:ext uri="{FF2B5EF4-FFF2-40B4-BE49-F238E27FC236}">
                <a16:creationId xmlns:a16="http://schemas.microsoft.com/office/drawing/2014/main" id="{DCFB8441-9DF5-456A-A6E4-1C9C92D0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38650"/>
            <a:ext cx="28765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ID absence or exact version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Owner and status rules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 timeout-as-absence</a:t>
            </a:r>
          </a:p>
        </p:txBody>
      </p:sp>
      <p:sp>
        <p:nvSpPr>
          <p:cNvPr id="17" name="preflight-profile-surface">
            <a:extLst xmlns:a="http://schemas.openxmlformats.org/drawingml/2006/main">
              <a:ext uri="{FF2B5EF4-FFF2-40B4-BE49-F238E27FC236}">
                <a16:creationId xmlns:a16="http://schemas.microsoft.com/office/drawing/2014/main" id="{1B06B1D4-4E19-4DBA-9E79-0D1CA892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38550"/>
            <a:ext cx="3143250" cy="19812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reflight-profile-title">
            <a:extLst xmlns:a="http://schemas.openxmlformats.org/drawingml/2006/main">
              <a:ext uri="{FF2B5EF4-FFF2-40B4-BE49-F238E27FC236}">
                <a16:creationId xmlns:a16="http://schemas.microsoft.com/office/drawing/2014/main" id="{D186545C-416B-4643-8F57-052DE697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86200"/>
            <a:ext cx="2647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Agree on profile</a:t>
            </a:r>
          </a:p>
        </p:txBody>
      </p:sp>
      <p:sp>
        <p:nvSpPr>
          <p:cNvPr id="19" name="preflight-profile-body">
            <a:extLst xmlns:a="http://schemas.openxmlformats.org/drawingml/2006/main">
              <a:ext uri="{FF2B5EF4-FFF2-40B4-BE49-F238E27FC236}">
                <a16:creationId xmlns:a16="http://schemas.microsoft.com/office/drawing/2014/main" id="{426D2CC7-77B6-46B9-8853-54C922BD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38650"/>
            <a:ext cx="26479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Three members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Same root and machine</a:t>
            </a:r>
          </a:p>
          <a:p xmlns:a="http://schemas.openxmlformats.org/drawingml/2006/main">
            <a:pPr algn="l"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Pinned profile digest</a:t>
            </a:r>
          </a:p>
        </p:txBody>
      </p:sp>
      <p:sp>
        <p:nvSpPr>
          <p:cNvPr id="20" name="preflight-takeaway">
            <a:extLst xmlns:a="http://schemas.openxmlformats.org/drawingml/2006/main">
              <a:ext uri="{FF2B5EF4-FFF2-40B4-BE49-F238E27FC236}">
                <a16:creationId xmlns:a16="http://schemas.microsoft.com/office/drawing/2014/main" id="{3F059EFE-2877-4C8C-99CC-E18C87FB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886450"/>
            <a:ext cx="7391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854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97A5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7A55"/>
                </a:solidFill>
                <a:latin typeface="Arial"/>
                <a:ea typeface="Arial"/>
                <a:cs typeface="Arial"/>
              </a:rPr>
              <a:t>No connector write or app message occurs until all three checks pass.</a:t>
            </a:r>
          </a:p>
        </p:txBody>
      </p:sp>
    </p:spTree>
    <p:extLst>
      <p:ext uri="{BB962C8B-B14F-4D97-AF65-F5344CB8AC3E}">
        <p14:creationId xmlns:p14="http://schemas.microsoft.com/office/powerpoint/2010/main" val="118039866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-8">
            <a:extLst xmlns:a="http://schemas.openxmlformats.org/drawingml/2006/main">
              <a:ext uri="{FF2B5EF4-FFF2-40B4-BE49-F238E27FC236}">
                <a16:creationId xmlns:a16="http://schemas.microsoft.com/office/drawing/2014/main" id="{9E1B3776-A096-4BAF-958D-E9838001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YANO EVIDENCE CHAIN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02D765EB-7156-43F3-9F66-DB907B0C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041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Approval releases two deterministic storage instructions</a:t>
            </a:r>
          </a:p>
        </p:txBody>
      </p:sp>
      <p:sp>
        <p:nvSpPr>
          <p:cNvPr id="3" name="footer-8">
            <a:extLst xmlns:a="http://schemas.openxmlformats.org/drawingml/2006/main">
              <a:ext uri="{FF2B5EF4-FFF2-40B4-BE49-F238E27FC236}">
                <a16:creationId xmlns:a16="http://schemas.microsoft.com/office/drawing/2014/main" id="{FE1F7C3E-16F3-406C-9185-D9327A0D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B7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4" name="approval-a1">
            <a:extLst xmlns:a="http://schemas.openxmlformats.org/drawingml/2006/main">
              <a:ext uri="{FF2B5EF4-FFF2-40B4-BE49-F238E27FC236}">
                <a16:creationId xmlns:a16="http://schemas.microsoft.com/office/drawing/2014/main" id="{68D5E7D5-FA23-4C2E-955B-65C2A9CD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86100"/>
            <a:ext cx="609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approval-a2">
            <a:extLst xmlns:a="http://schemas.openxmlformats.org/drawingml/2006/main">
              <a:ext uri="{FF2B5EF4-FFF2-40B4-BE49-F238E27FC236}">
                <a16:creationId xmlns:a16="http://schemas.microsoft.com/office/drawing/2014/main" id="{AD123F44-F52D-47DF-8CA9-C0A3D9A9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86100"/>
            <a:ext cx="6096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pproval-registry-surface">
            <a:extLst xmlns:a="http://schemas.openxmlformats.org/drawingml/2006/main">
              <a:ext uri="{FF2B5EF4-FFF2-40B4-BE49-F238E27FC236}">
                <a16:creationId xmlns:a16="http://schemas.microsoft.com/office/drawing/2014/main" id="{E62ADC98-5D21-4CDE-B0D1-C13BBCFF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3067050" cy="21336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pproval-registry-title">
            <a:extLst xmlns:a="http://schemas.openxmlformats.org/drawingml/2006/main">
              <a:ext uri="{FF2B5EF4-FFF2-40B4-BE49-F238E27FC236}">
                <a16:creationId xmlns:a16="http://schemas.microsoft.com/office/drawing/2014/main" id="{3DA52B4D-355B-4FF9-B691-B2CC80BB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1. Bind identity</a:t>
            </a:r>
          </a:p>
        </p:txBody>
      </p:sp>
      <p:sp>
        <p:nvSpPr>
          <p:cNvPr id="8" name="approval-registry-body">
            <a:extLst xmlns:a="http://schemas.openxmlformats.org/drawingml/2006/main">
              <a:ext uri="{FF2B5EF4-FFF2-40B4-BE49-F238E27FC236}">
                <a16:creationId xmlns:a16="http://schemas.microsoft.com/office/drawing/2014/main" id="{A0C59BF2-7741-4C3B-9DE8-F3D0E021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2571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224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Registry records the evidence key and expected document hash.</a:t>
            </a:r>
          </a:p>
        </p:txBody>
      </p:sp>
      <p:sp>
        <p:nvSpPr>
          <p:cNvPr id="9" name="approval-vote-surface">
            <a:extLst xmlns:a="http://schemas.openxmlformats.org/drawingml/2006/main">
              <a:ext uri="{FF2B5EF4-FFF2-40B4-BE49-F238E27FC236}">
                <a16:creationId xmlns:a16="http://schemas.microsoft.com/office/drawing/2014/main" id="{A338D8B9-94D5-44CC-9631-7EE3FE06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247900"/>
            <a:ext cx="3390900" cy="21336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pproval-vote-title">
            <a:extLst xmlns:a="http://schemas.openxmlformats.org/drawingml/2006/main">
              <a:ext uri="{FF2B5EF4-FFF2-40B4-BE49-F238E27FC236}">
                <a16:creationId xmlns:a16="http://schemas.microsoft.com/office/drawing/2014/main" id="{7B4860FB-7B82-47CE-A330-AB4E7396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9555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319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2. Approve exact bytes</a:t>
            </a:r>
          </a:p>
        </p:txBody>
      </p:sp>
      <p:sp>
        <p:nvSpPr>
          <p:cNvPr id="11" name="approval-vote-body">
            <a:extLst xmlns:a="http://schemas.openxmlformats.org/drawingml/2006/main">
              <a:ext uri="{FF2B5EF4-FFF2-40B4-BE49-F238E27FC236}">
                <a16:creationId xmlns:a16="http://schemas.microsoft.com/office/drawing/2014/main" id="{C92EAC5E-477C-4003-ABDC-BA214F1B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48000"/>
            <a:ext cx="28956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Proposal and approval refer to the canonical encoded evidence command.</a:t>
            </a:r>
          </a:p>
        </p:txBody>
      </p:sp>
      <p:sp>
        <p:nvSpPr>
          <p:cNvPr id="12" name="approval-release-surface">
            <a:extLst xmlns:a="http://schemas.openxmlformats.org/drawingml/2006/main">
              <a:ext uri="{FF2B5EF4-FFF2-40B4-BE49-F238E27FC236}">
                <a16:creationId xmlns:a16="http://schemas.microsoft.com/office/drawing/2014/main" id="{1A0008E6-79F4-499A-9B39-2F3EFA92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247900"/>
            <a:ext cx="3371850" cy="21336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pproval-release-title">
            <a:extLst xmlns:a="http://schemas.openxmlformats.org/drawingml/2006/main">
              <a:ext uri="{FF2B5EF4-FFF2-40B4-BE49-F238E27FC236}">
                <a16:creationId xmlns:a16="http://schemas.microsoft.com/office/drawing/2014/main" id="{9C71927E-DA2C-4A37-AB57-AF6F2369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955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647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3. Release atomically</a:t>
            </a:r>
          </a:p>
        </p:txBody>
      </p:sp>
      <p:sp>
        <p:nvSpPr>
          <p:cNvPr id="14" name="approval-release-body">
            <a:extLst xmlns:a="http://schemas.openxmlformats.org/drawingml/2006/main">
              <a:ext uri="{FF2B5EF4-FFF2-40B4-BE49-F238E27FC236}">
                <a16:creationId xmlns:a16="http://schemas.microsoft.com/office/drawing/2014/main" id="{7767C18C-0FCF-4D28-95E0-8F4E5F08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48000"/>
            <a:ext cx="28765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Document trail + evidence record emit object.put and ipfs.pin.</a:t>
            </a:r>
          </a:p>
        </p:txBody>
      </p:sp>
      <p:sp>
        <p:nvSpPr>
          <p:cNvPr id="15" name="object-effect">
            <a:extLst xmlns:a="http://schemas.openxmlformats.org/drawingml/2006/main">
              <a:ext uri="{FF2B5EF4-FFF2-40B4-BE49-F238E27FC236}">
                <a16:creationId xmlns:a16="http://schemas.microsoft.com/office/drawing/2014/main" id="{EE9FA8DD-3F6C-4F55-9E62-9CCC405C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914900"/>
            <a:ext cx="1657350" cy="5334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object.put</a:t>
            </a:r>
          </a:p>
        </p:txBody>
      </p:sp>
      <p:sp>
        <p:nvSpPr>
          <p:cNvPr id="16" name="ipfs-effect">
            <a:extLst xmlns:a="http://schemas.openxmlformats.org/drawingml/2006/main">
              <a:ext uri="{FF2B5EF4-FFF2-40B4-BE49-F238E27FC236}">
                <a16:creationId xmlns:a16="http://schemas.microsoft.com/office/drawing/2014/main" id="{0BD81C93-6EA4-43F0-8D7D-D457A018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14900"/>
            <a:ext cx="1657350" cy="5334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ipfs.pin</a:t>
            </a:r>
          </a:p>
        </p:txBody>
      </p:sp>
      <p:sp>
        <p:nvSpPr>
          <p:cNvPr id="17" name="approval-takeaway">
            <a:extLst xmlns:a="http://schemas.openxmlformats.org/drawingml/2006/main">
              <a:ext uri="{FF2B5EF4-FFF2-40B4-BE49-F238E27FC236}">
                <a16:creationId xmlns:a16="http://schemas.microsoft.com/office/drawing/2014/main" id="{57F0DA96-D5F6-414F-BEFA-1296940C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48350"/>
            <a:ext cx="895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107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state machine records what is authorized; connector endpoints and secrets stay local.</a:t>
            </a:r>
          </a:p>
        </p:txBody>
      </p:sp>
    </p:spTree>
    <p:extLst>
      <p:ext uri="{BB962C8B-B14F-4D97-AF65-F5344CB8AC3E}">
        <p14:creationId xmlns:p14="http://schemas.microsoft.com/office/powerpoint/2010/main" val="137795528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-9">
            <a:extLst xmlns:a="http://schemas.openxmlformats.org/drawingml/2006/main">
              <a:ext uri="{FF2B5EF4-FFF2-40B4-BE49-F238E27FC236}">
                <a16:creationId xmlns:a16="http://schemas.microsoft.com/office/drawing/2014/main" id="{5A5FE40E-23D5-4AF9-B584-150A0E3A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YANO EVIDENCE CHAIN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559AB3C1-CCF6-476F-B411-D6C6153D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Receipts return to the same authenticated state</a:t>
            </a:r>
          </a:p>
        </p:txBody>
      </p:sp>
      <p:sp>
        <p:nvSpPr>
          <p:cNvPr id="3" name="footer-9">
            <a:extLst xmlns:a="http://schemas.openxmlformats.org/drawingml/2006/main">
              <a:ext uri="{FF2B5EF4-FFF2-40B4-BE49-F238E27FC236}">
                <a16:creationId xmlns:a16="http://schemas.microsoft.com/office/drawing/2014/main" id="{71BA86DF-1062-48D9-9C8B-EBE156BF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B7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4" name="s3-result-arrow">
            <a:extLst xmlns:a="http://schemas.openxmlformats.org/drawingml/2006/main">
              <a:ext uri="{FF2B5EF4-FFF2-40B4-BE49-F238E27FC236}">
                <a16:creationId xmlns:a16="http://schemas.microsoft.com/office/drawing/2014/main" id="{70CB97D6-4189-42CE-9D59-8C15CA9C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86000"/>
            <a:ext cx="6286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ipfs-result-arrow">
            <a:extLst xmlns:a="http://schemas.openxmlformats.org/drawingml/2006/main">
              <a:ext uri="{FF2B5EF4-FFF2-40B4-BE49-F238E27FC236}">
                <a16:creationId xmlns:a16="http://schemas.microsoft.com/office/drawing/2014/main" id="{E2069FD6-3525-4522-AFA3-1DB506151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790950"/>
            <a:ext cx="6286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tate-kafka-arrow">
            <a:extLst xmlns:a="http://schemas.openxmlformats.org/drawingml/2006/main">
              <a:ext uri="{FF2B5EF4-FFF2-40B4-BE49-F238E27FC236}">
                <a16:creationId xmlns:a16="http://schemas.microsoft.com/office/drawing/2014/main" id="{259BD4A3-6581-4340-92D1-6A46A894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43250"/>
            <a:ext cx="6286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kafka-ready-arrow">
            <a:extLst xmlns:a="http://schemas.openxmlformats.org/drawingml/2006/main">
              <a:ext uri="{FF2B5EF4-FFF2-40B4-BE49-F238E27FC236}">
                <a16:creationId xmlns:a16="http://schemas.microsoft.com/office/drawing/2014/main" id="{361A31C1-CC96-4274-9F46-8EA1B831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43250"/>
            <a:ext cx="38100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xt-s3-surface">
            <a:extLst xmlns:a="http://schemas.openxmlformats.org/drawingml/2006/main">
              <a:ext uri="{FF2B5EF4-FFF2-40B4-BE49-F238E27FC236}">
                <a16:creationId xmlns:a16="http://schemas.microsoft.com/office/drawing/2014/main" id="{4005F8A5-0042-4B85-B671-FE522937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71650"/>
            <a:ext cx="2571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ext-s3-title">
            <a:extLst xmlns:a="http://schemas.openxmlformats.org/drawingml/2006/main">
              <a:ext uri="{FF2B5EF4-FFF2-40B4-BE49-F238E27FC236}">
                <a16:creationId xmlns:a16="http://schemas.microsoft.com/office/drawing/2014/main" id="{1D2876E3-6967-4427-BCD5-10F45A83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621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Object archive</a:t>
            </a:r>
          </a:p>
        </p:txBody>
      </p:sp>
      <p:sp>
        <p:nvSpPr>
          <p:cNvPr id="10" name="ext-s3-body">
            <a:extLst xmlns:a="http://schemas.openxmlformats.org/drawingml/2006/main">
              <a:ext uri="{FF2B5EF4-FFF2-40B4-BE49-F238E27FC236}">
                <a16:creationId xmlns:a16="http://schemas.microsoft.com/office/drawing/2014/main" id="{339D756D-59AF-4E47-8378-AD4311A4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2410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Version ID + checksum</a:t>
            </a:r>
          </a:p>
        </p:txBody>
      </p:sp>
      <p:sp>
        <p:nvSpPr>
          <p:cNvPr id="11" name="ext-ipfs-surface">
            <a:extLst xmlns:a="http://schemas.openxmlformats.org/drawingml/2006/main">
              <a:ext uri="{FF2B5EF4-FFF2-40B4-BE49-F238E27FC236}">
                <a16:creationId xmlns:a16="http://schemas.microsoft.com/office/drawing/2014/main" id="{867C3B30-6729-40A6-9532-AB71430D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2571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ext-ipfs-title">
            <a:extLst xmlns:a="http://schemas.openxmlformats.org/drawingml/2006/main">
              <a:ext uri="{FF2B5EF4-FFF2-40B4-BE49-F238E27FC236}">
                <a16:creationId xmlns:a16="http://schemas.microsoft.com/office/drawing/2014/main" id="{B43E0846-2DF9-4C60-8B41-CEF8F913D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671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IPFS</a:t>
            </a:r>
          </a:p>
        </p:txBody>
      </p:sp>
      <p:sp>
        <p:nvSpPr>
          <p:cNvPr id="13" name="ext-ipfs-body">
            <a:extLst xmlns:a="http://schemas.openxmlformats.org/drawingml/2006/main">
              <a:ext uri="{FF2B5EF4-FFF2-40B4-BE49-F238E27FC236}">
                <a16:creationId xmlns:a16="http://schemas.microsoft.com/office/drawing/2014/main" id="{1CDDEA71-53CE-4578-9D15-2184915B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29050"/>
            <a:ext cx="219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CID + pin state</a:t>
            </a:r>
          </a:p>
        </p:txBody>
      </p:sp>
      <p:sp>
        <p:nvSpPr>
          <p:cNvPr id="14" name="result-state-surface">
            <a:extLst xmlns:a="http://schemas.openxmlformats.org/drawingml/2006/main">
              <a:ext uri="{FF2B5EF4-FFF2-40B4-BE49-F238E27FC236}">
                <a16:creationId xmlns:a16="http://schemas.microsoft.com/office/drawing/2014/main" id="{210832BD-2381-48DA-BA4F-BE80F659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885950"/>
            <a:ext cx="3409950" cy="2838450"/>
          </a:xfrm>
          <a:prstGeom xmlns:a="http://schemas.openxmlformats.org/drawingml/2006/main" prst="roundRect">
            <a:avLst>
              <a:gd name="adj" fmla="val 4027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sult-state-title">
            <a:extLst xmlns:a="http://schemas.openxmlformats.org/drawingml/2006/main">
              <a:ext uri="{FF2B5EF4-FFF2-40B4-BE49-F238E27FC236}">
                <a16:creationId xmlns:a16="http://schemas.microsoft.com/office/drawing/2014/main" id="{A404F3EA-64D5-4380-BBDC-012AA020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33600"/>
            <a:ext cx="2914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748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Result incorporation</a:t>
            </a:r>
          </a:p>
        </p:txBody>
      </p:sp>
      <p:sp>
        <p:nvSpPr>
          <p:cNvPr id="16" name="result-state-body">
            <a:extLst xmlns:a="http://schemas.openxmlformats.org/drawingml/2006/main">
              <a:ext uri="{FF2B5EF4-FFF2-40B4-BE49-F238E27FC236}">
                <a16:creationId xmlns:a16="http://schemas.microsoft.com/office/drawing/2014/main" id="{6984CF33-F306-4BDA-AB9C-EFD4C2FE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86050"/>
            <a:ext cx="29146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Signed terminal results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First result wins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Both storage outcomes confirmed</a:t>
            </a:r>
          </a:p>
        </p:txBody>
      </p:sp>
      <p:sp>
        <p:nvSpPr>
          <p:cNvPr id="17" name="ext-kafka-surface">
            <a:extLst xmlns:a="http://schemas.openxmlformats.org/drawingml/2006/main">
              <a:ext uri="{FF2B5EF4-FFF2-40B4-BE49-F238E27FC236}">
                <a16:creationId xmlns:a16="http://schemas.microsoft.com/office/drawing/2014/main" id="{0B297988-3889-4ACE-9505-D4FD5DF6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00300"/>
            <a:ext cx="2209800" cy="177165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ext-kafka-title">
            <a:extLst xmlns:a="http://schemas.openxmlformats.org/drawingml/2006/main">
              <a:ext uri="{FF2B5EF4-FFF2-40B4-BE49-F238E27FC236}">
                <a16:creationId xmlns:a16="http://schemas.microsoft.com/office/drawing/2014/main" id="{C546401E-D831-44D8-9196-4ACB2904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4795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Kafka effect</a:t>
            </a:r>
          </a:p>
        </p:txBody>
      </p:sp>
      <p:sp>
        <p:nvSpPr>
          <p:cNvPr id="19" name="ext-kafka-body">
            <a:extLst xmlns:a="http://schemas.openxmlformats.org/drawingml/2006/main">
              <a:ext uri="{FF2B5EF4-FFF2-40B4-BE49-F238E27FC236}">
                <a16:creationId xmlns:a16="http://schemas.microsoft.com/office/drawing/2014/main" id="{2B1E4A1D-ADA4-4759-BD28-FBD86F1F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00400"/>
            <a:ext cx="171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5873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NOTIFY, or direct continuation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Partition + offset</a:t>
            </a:r>
          </a:p>
        </p:txBody>
      </p:sp>
      <p:sp>
        <p:nvSpPr>
          <p:cNvPr id="20" name="ready-box">
            <a:extLst xmlns:a="http://schemas.openxmlformats.org/drawingml/2006/main">
              <a:ext uri="{FF2B5EF4-FFF2-40B4-BE49-F238E27FC236}">
                <a16:creationId xmlns:a16="http://schemas.microsoft.com/office/drawing/2014/main" id="{4619269C-EC55-4893-AA71-03F81273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71750"/>
            <a:ext cx="1219200" cy="142875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eady-text">
            <a:extLst xmlns:a="http://schemas.openxmlformats.org/drawingml/2006/main">
              <a:ext uri="{FF2B5EF4-FFF2-40B4-BE49-F238E27FC236}">
                <a16:creationId xmlns:a16="http://schemas.microsoft.com/office/drawing/2014/main" id="{4FFB66CB-0EA8-4597-8829-461DFBB5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048000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22" name="result-note">
            <a:extLst xmlns:a="http://schemas.openxmlformats.org/drawingml/2006/main">
              <a:ext uri="{FF2B5EF4-FFF2-40B4-BE49-F238E27FC236}">
                <a16:creationId xmlns:a16="http://schemas.microsoft.com/office/drawing/2014/main" id="{40726B7D-EFB1-4307-BC00-BF28C26AF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7685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626B7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26B77"/>
                </a:solidFill>
                <a:latin typeface="Arial"/>
                <a:ea typeface="Arial"/>
                <a:cs typeface="Arial"/>
              </a:rPr>
              <a:t>Default explicit mode submits NOTIFY. Direct mode removes that message but preserves deterministic emission.</a:t>
            </a:r>
          </a:p>
        </p:txBody>
      </p:sp>
    </p:spTree>
    <p:extLst>
      <p:ext uri="{BB962C8B-B14F-4D97-AF65-F5344CB8AC3E}">
        <p14:creationId xmlns:p14="http://schemas.microsoft.com/office/powerpoint/2010/main" val="134488973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-10">
            <a:extLst xmlns:a="http://schemas.openxmlformats.org/drawingml/2006/main">
              <a:ext uri="{FF2B5EF4-FFF2-40B4-BE49-F238E27FC236}">
                <a16:creationId xmlns:a16="http://schemas.microsoft.com/office/drawing/2014/main" id="{5CA29D5A-BFB0-4E5F-90E4-EE6196BA4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YANO EVIDENCE CHAIN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08621ED4-4319-4FC5-AC97-C32676DAC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READY is a verified package, not a status flag</a:t>
            </a:r>
          </a:p>
        </p:txBody>
      </p:sp>
      <p:sp>
        <p:nvSpPr>
          <p:cNvPr id="3" name="footer-10">
            <a:extLst xmlns:a="http://schemas.openxmlformats.org/drawingml/2006/main">
              <a:ext uri="{FF2B5EF4-FFF2-40B4-BE49-F238E27FC236}">
                <a16:creationId xmlns:a16="http://schemas.microsoft.com/office/drawing/2014/main" id="{046D375F-619C-469A-860C-08A9BD3C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B7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verify-intro">
            <a:extLst xmlns:a="http://schemas.openxmlformats.org/drawingml/2006/main">
              <a:ext uri="{FF2B5EF4-FFF2-40B4-BE49-F238E27FC236}">
                <a16:creationId xmlns:a16="http://schemas.microsoft.com/office/drawing/2014/main" id="{81A99296-ED41-4919-BDF1-FC5C91F8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970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26B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6B77"/>
                </a:solidFill>
                <a:latin typeface="Arial"/>
                <a:ea typeface="Arial"/>
                <a:cs typeface="Arial"/>
              </a:rPr>
              <a:t>The runner does not stop at executor success. It independently checks three evidence domains.</a:t>
            </a:r>
          </a:p>
        </p:txBody>
      </p:sp>
      <p:sp>
        <p:nvSpPr>
          <p:cNvPr id="5" name="verify-chain-surface">
            <a:extLst xmlns:a="http://schemas.openxmlformats.org/drawingml/2006/main">
              <a:ext uri="{FF2B5EF4-FFF2-40B4-BE49-F238E27FC236}">
                <a16:creationId xmlns:a16="http://schemas.microsoft.com/office/drawing/2014/main" id="{726DBD0D-17CC-4691-BE34-C1EC7085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0"/>
            <a:ext cx="33718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verify-chain-title">
            <a:extLst xmlns:a="http://schemas.openxmlformats.org/drawingml/2006/main">
              <a:ext uri="{FF2B5EF4-FFF2-40B4-BE49-F238E27FC236}">
                <a16:creationId xmlns:a16="http://schemas.microsoft.com/office/drawing/2014/main" id="{8EBCBC60-387B-4C34-BE37-4D76D17A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Chain evidence</a:t>
            </a:r>
          </a:p>
        </p:txBody>
      </p:sp>
      <p:sp>
        <p:nvSpPr>
          <p:cNvPr id="7" name="verify-chain-body">
            <a:extLst xmlns:a="http://schemas.openxmlformats.org/drawingml/2006/main">
              <a:ext uri="{FF2B5EF4-FFF2-40B4-BE49-F238E27FC236}">
                <a16:creationId xmlns:a16="http://schemas.microsoft.com/office/drawing/2014/main" id="{721037F0-0D53-407F-9794-7DA91794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28765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Three-member agreement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State + effect proofs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Threshold finality bundles</a:t>
            </a:r>
          </a:p>
        </p:txBody>
      </p:sp>
      <p:sp>
        <p:nvSpPr>
          <p:cNvPr id="8" name="verify-external-surface">
            <a:extLst xmlns:a="http://schemas.openxmlformats.org/drawingml/2006/main">
              <a:ext uri="{FF2B5EF4-FFF2-40B4-BE49-F238E27FC236}">
                <a16:creationId xmlns:a16="http://schemas.microsoft.com/office/drawing/2014/main" id="{AB30AFD8-A080-4DE1-B05B-C4F7D8F4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86000"/>
            <a:ext cx="33718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verify-external-title">
            <a:extLst xmlns:a="http://schemas.openxmlformats.org/drawingml/2006/main">
              <a:ext uri="{FF2B5EF4-FFF2-40B4-BE49-F238E27FC236}">
                <a16:creationId xmlns:a16="http://schemas.microsoft.com/office/drawing/2014/main" id="{2742DAE9-C1B5-4D69-BEBA-F29A6E3E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3365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External evidence</a:t>
            </a:r>
          </a:p>
        </p:txBody>
      </p:sp>
      <p:sp>
        <p:nvSpPr>
          <p:cNvPr id="10" name="verify-external-body">
            <a:extLst xmlns:a="http://schemas.openxmlformats.org/drawingml/2006/main">
              <a:ext uri="{FF2B5EF4-FFF2-40B4-BE49-F238E27FC236}">
                <a16:creationId xmlns:a16="http://schemas.microsoft.com/office/drawing/2014/main" id="{5481FDCB-D811-480F-ACD8-22DA7012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086100"/>
            <a:ext cx="28765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Exact object version + bytes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CID + IPFS pin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Kafka event + headers</a:t>
            </a:r>
          </a:p>
        </p:txBody>
      </p:sp>
      <p:sp>
        <p:nvSpPr>
          <p:cNvPr id="11" name="verify-l1-surface">
            <a:extLst xmlns:a="http://schemas.openxmlformats.org/drawingml/2006/main">
              <a:ext uri="{FF2B5EF4-FFF2-40B4-BE49-F238E27FC236}">
                <a16:creationId xmlns:a16="http://schemas.microsoft.com/office/drawing/2014/main" id="{FF41A69E-27CA-4602-AEAD-BD8A5382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86000"/>
            <a:ext cx="31242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verify-l1-title">
            <a:extLst xmlns:a="http://schemas.openxmlformats.org/drawingml/2006/main">
              <a:ext uri="{FF2B5EF4-FFF2-40B4-BE49-F238E27FC236}">
                <a16:creationId xmlns:a16="http://schemas.microsoft.com/office/drawing/2014/main" id="{66206B99-15E7-4DAC-AB05-ACA79F70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33650"/>
            <a:ext cx="2628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08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Cardano evidence</a:t>
            </a:r>
          </a:p>
        </p:txBody>
      </p:sp>
      <p:sp>
        <p:nvSpPr>
          <p:cNvPr id="13" name="verify-l1-body">
            <a:extLst xmlns:a="http://schemas.openxmlformats.org/drawingml/2006/main">
              <a:ext uri="{FF2B5EF4-FFF2-40B4-BE49-F238E27FC236}">
                <a16:creationId xmlns:a16="http://schemas.microsoft.com/office/drawing/2014/main" id="{8AF0C2C1-F683-41F6-9805-CB302D63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86100"/>
            <a:ext cx="26289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Anchor transaction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Thread token output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Canonical inline datum</a:t>
            </a:r>
          </a:p>
        </p:txBody>
      </p:sp>
      <p:sp>
        <p:nvSpPr>
          <p:cNvPr id="14" name="verify-footer">
            <a:extLst xmlns:a="http://schemas.openxmlformats.org/drawingml/2006/main">
              <a:ext uri="{FF2B5EF4-FFF2-40B4-BE49-F238E27FC236}">
                <a16:creationId xmlns:a16="http://schemas.microsoft.com/office/drawing/2014/main" id="{86461454-9A23-4418-B999-417765732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76900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All observations are bound back to the certified app-chain root.</a:t>
            </a:r>
          </a:p>
        </p:txBody>
      </p:sp>
    </p:spTree>
    <p:extLst>
      <p:ext uri="{BB962C8B-B14F-4D97-AF65-F5344CB8AC3E}">
        <p14:creationId xmlns:p14="http://schemas.microsoft.com/office/powerpoint/2010/main" val="74278921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kicker-11">
            <a:extLst xmlns:a="http://schemas.openxmlformats.org/drawingml/2006/main">
              <a:ext uri="{FF2B5EF4-FFF2-40B4-BE49-F238E27FC236}">
                <a16:creationId xmlns:a16="http://schemas.microsoft.com/office/drawing/2014/main" id="{99214C8F-8D90-4A8E-A6A2-B1143180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YANO EVIDENCE CHAIN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33EB0629-E40F-4C56-A0D2-CAD7BE50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Each system stores only what it should</a:t>
            </a:r>
          </a:p>
        </p:txBody>
      </p:sp>
      <p:sp>
        <p:nvSpPr>
          <p:cNvPr id="3" name="footer-11">
            <a:extLst xmlns:a="http://schemas.openxmlformats.org/drawingml/2006/main">
              <a:ext uri="{FF2B5EF4-FFF2-40B4-BE49-F238E27FC236}">
                <a16:creationId xmlns:a16="http://schemas.microsoft.com/office/drawing/2014/main" id="{59534DBE-33FF-449B-9111-48D2C60D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B7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data-head-0">
            <a:extLst xmlns:a="http://schemas.openxmlformats.org/drawingml/2006/main">
              <a:ext uri="{FF2B5EF4-FFF2-40B4-BE49-F238E27FC236}">
                <a16:creationId xmlns:a16="http://schemas.microsoft.com/office/drawing/2014/main" id="{0CB74FB6-0022-484D-8A40-4EDEBA48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2190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ata-head-text-0">
            <a:extLst xmlns:a="http://schemas.openxmlformats.org/drawingml/2006/main">
              <a:ext uri="{FF2B5EF4-FFF2-40B4-BE49-F238E27FC236}">
                <a16:creationId xmlns:a16="http://schemas.microsoft.com/office/drawing/2014/main" id="{FA254325-22E1-44E2-BE6C-7C7300D5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28775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Location</a:t>
            </a:r>
          </a:p>
        </p:txBody>
      </p:sp>
      <p:sp>
        <p:nvSpPr>
          <p:cNvPr id="6" name="data-head-1">
            <a:extLst xmlns:a="http://schemas.openxmlformats.org/drawingml/2006/main">
              <a:ext uri="{FF2B5EF4-FFF2-40B4-BE49-F238E27FC236}">
                <a16:creationId xmlns:a16="http://schemas.microsoft.com/office/drawing/2014/main" id="{0A5DD708-72F6-4242-AEC1-28D35C3F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524000"/>
            <a:ext cx="5238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ata-head-text-1">
            <a:extLst xmlns:a="http://schemas.openxmlformats.org/drawingml/2006/main">
              <a:ext uri="{FF2B5EF4-FFF2-40B4-BE49-F238E27FC236}">
                <a16:creationId xmlns:a16="http://schemas.microsoft.com/office/drawing/2014/main" id="{C9C7E695-5A41-4528-88E0-FA92918FA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28775"/>
            <a:ext cx="497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Retained</a:t>
            </a:r>
          </a:p>
        </p:txBody>
      </p:sp>
      <p:sp>
        <p:nvSpPr>
          <p:cNvPr id="8" name="data-head-2">
            <a:extLst xmlns:a="http://schemas.openxmlformats.org/drawingml/2006/main">
              <a:ext uri="{FF2B5EF4-FFF2-40B4-BE49-F238E27FC236}">
                <a16:creationId xmlns:a16="http://schemas.microsoft.com/office/drawing/2014/main" id="{7D0D77CC-1336-42A9-8D6F-6FA4518D5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524000"/>
            <a:ext cx="390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ata-head-text-2">
            <a:extLst xmlns:a="http://schemas.openxmlformats.org/drawingml/2006/main">
              <a:ext uri="{FF2B5EF4-FFF2-40B4-BE49-F238E27FC236}">
                <a16:creationId xmlns:a16="http://schemas.microsoft.com/office/drawing/2014/main" id="{62B78B55-1F5C-4968-B8A6-AC012DDA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28775"/>
            <a:ext cx="3638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Deliberately excluded</a:t>
            </a:r>
          </a:p>
        </p:txBody>
      </p:sp>
      <p:sp>
        <p:nvSpPr>
          <p:cNvPr id="10" name="data-0-0">
            <a:extLst xmlns:a="http://schemas.openxmlformats.org/drawingml/2006/main">
              <a:ext uri="{FF2B5EF4-FFF2-40B4-BE49-F238E27FC236}">
                <a16:creationId xmlns:a16="http://schemas.microsoft.com/office/drawing/2014/main" id="{31242C9E-6580-4DD9-B742-2DD13A00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8120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data-text-0-0">
            <a:extLst xmlns:a="http://schemas.openxmlformats.org/drawingml/2006/main">
              <a:ext uri="{FF2B5EF4-FFF2-40B4-BE49-F238E27FC236}">
                <a16:creationId xmlns:a16="http://schemas.microsoft.com/office/drawing/2014/main" id="{A0554DE8-5120-47DD-8CED-C7EA69D1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7645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App chain</a:t>
            </a:r>
          </a:p>
        </p:txBody>
      </p:sp>
      <p:sp>
        <p:nvSpPr>
          <p:cNvPr id="12" name="data-0-1">
            <a:extLst xmlns:a="http://schemas.openxmlformats.org/drawingml/2006/main">
              <a:ext uri="{FF2B5EF4-FFF2-40B4-BE49-F238E27FC236}">
                <a16:creationId xmlns:a16="http://schemas.microsoft.com/office/drawing/2014/main" id="{96B57EF3-63B3-4B22-B2F0-E5303FD4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81200"/>
            <a:ext cx="523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data-text-0-1">
            <a:extLst xmlns:a="http://schemas.openxmlformats.org/drawingml/2006/main">
              <a:ext uri="{FF2B5EF4-FFF2-40B4-BE49-F238E27FC236}">
                <a16:creationId xmlns:a16="http://schemas.microsoft.com/office/drawing/2014/main" id="{3F6A7E99-E746-4BAF-B713-0D298705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076450"/>
            <a:ext cx="499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IDs, versions, hashes, status, effect records/results, proofs</a:t>
            </a:r>
          </a:p>
        </p:txBody>
      </p:sp>
      <p:sp>
        <p:nvSpPr>
          <p:cNvPr id="14" name="data-0-2">
            <a:extLst xmlns:a="http://schemas.openxmlformats.org/drawingml/2006/main">
              <a:ext uri="{FF2B5EF4-FFF2-40B4-BE49-F238E27FC236}">
                <a16:creationId xmlns:a16="http://schemas.microsoft.com/office/drawing/2014/main" id="{927728D9-9605-4567-8541-9E077786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981200"/>
            <a:ext cx="390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data-text-0-2">
            <a:extLst xmlns:a="http://schemas.openxmlformats.org/drawingml/2006/main">
              <a:ext uri="{FF2B5EF4-FFF2-40B4-BE49-F238E27FC236}">
                <a16:creationId xmlns:a16="http://schemas.microsoft.com/office/drawing/2014/main" id="{00A3CDA9-C1DC-4DB3-A861-6B1326AE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076450"/>
            <a:ext cx="3657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148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B77"/>
                </a:solidFill>
                <a:latin typeface="Arial"/>
                <a:ea typeface="Arial"/>
                <a:cs typeface="Arial"/>
              </a:rPr>
              <a:t>Document bytes, credentials, private endpoints</a:t>
            </a:r>
          </a:p>
        </p:txBody>
      </p:sp>
      <p:sp>
        <p:nvSpPr>
          <p:cNvPr id="16" name="data-1-0">
            <a:extLst xmlns:a="http://schemas.openxmlformats.org/drawingml/2006/main">
              <a:ext uri="{FF2B5EF4-FFF2-40B4-BE49-F238E27FC236}">
                <a16:creationId xmlns:a16="http://schemas.microsoft.com/office/drawing/2014/main" id="{0E0FFC64-DAE9-43C7-9AEB-C3892367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data-text-1-0">
            <a:extLst xmlns:a="http://schemas.openxmlformats.org/drawingml/2006/main">
              <a:ext uri="{FF2B5EF4-FFF2-40B4-BE49-F238E27FC236}">
                <a16:creationId xmlns:a16="http://schemas.microsoft.com/office/drawing/2014/main" id="{50126BA1-28A4-4040-BD20-3EC3315F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76225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Object archive</a:t>
            </a:r>
          </a:p>
        </p:txBody>
      </p:sp>
      <p:sp>
        <p:nvSpPr>
          <p:cNvPr id="18" name="data-1-1">
            <a:extLst xmlns:a="http://schemas.openxmlformats.org/drawingml/2006/main">
              <a:ext uri="{FF2B5EF4-FFF2-40B4-BE49-F238E27FC236}">
                <a16:creationId xmlns:a16="http://schemas.microsoft.com/office/drawing/2014/main" id="{E301815E-B1A2-48B2-A97C-D0BC1802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667000"/>
            <a:ext cx="523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data-text-1-1">
            <a:extLst xmlns:a="http://schemas.openxmlformats.org/drawingml/2006/main">
              <a:ext uri="{FF2B5EF4-FFF2-40B4-BE49-F238E27FC236}">
                <a16:creationId xmlns:a16="http://schemas.microsoft.com/office/drawing/2014/main" id="{ACFBD431-99E0-4C5E-9C34-571C74A5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2762250"/>
            <a:ext cx="499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Exact versioned bytes and provider version identity</a:t>
            </a:r>
          </a:p>
        </p:txBody>
      </p:sp>
      <p:sp>
        <p:nvSpPr>
          <p:cNvPr id="20" name="data-1-2">
            <a:extLst xmlns:a="http://schemas.openxmlformats.org/drawingml/2006/main">
              <a:ext uri="{FF2B5EF4-FFF2-40B4-BE49-F238E27FC236}">
                <a16:creationId xmlns:a16="http://schemas.microsoft.com/office/drawing/2014/main" id="{5FE817DA-D01B-4277-B09D-2753ED2FA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67000"/>
            <a:ext cx="390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data-text-1-2">
            <a:extLst xmlns:a="http://schemas.openxmlformats.org/drawingml/2006/main">
              <a:ext uri="{FF2B5EF4-FFF2-40B4-BE49-F238E27FC236}">
                <a16:creationId xmlns:a16="http://schemas.microsoft.com/office/drawing/2014/main" id="{AB58E6AB-3F06-4012-97BE-AA7CF5DED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762250"/>
            <a:ext cx="3657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B77"/>
                </a:solidFill>
                <a:latin typeface="Arial"/>
                <a:ea typeface="Arial"/>
                <a:cs typeface="Arial"/>
              </a:rPr>
              <a:t>Member and connector signing keys</a:t>
            </a:r>
          </a:p>
        </p:txBody>
      </p:sp>
      <p:sp>
        <p:nvSpPr>
          <p:cNvPr id="22" name="data-2-0">
            <a:extLst xmlns:a="http://schemas.openxmlformats.org/drawingml/2006/main">
              <a:ext uri="{FF2B5EF4-FFF2-40B4-BE49-F238E27FC236}">
                <a16:creationId xmlns:a16="http://schemas.microsoft.com/office/drawing/2014/main" id="{3C876BD5-C89E-4902-9DA1-82232ACE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data-text-2-0">
            <a:extLst xmlns:a="http://schemas.openxmlformats.org/drawingml/2006/main">
              <a:ext uri="{FF2B5EF4-FFF2-40B4-BE49-F238E27FC236}">
                <a16:creationId xmlns:a16="http://schemas.microsoft.com/office/drawing/2014/main" id="{DDC770F0-AE14-4097-B13C-755A500F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44805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IPFS</a:t>
            </a:r>
          </a:p>
        </p:txBody>
      </p:sp>
      <p:sp>
        <p:nvSpPr>
          <p:cNvPr id="24" name="data-2-1">
            <a:extLst xmlns:a="http://schemas.openxmlformats.org/drawingml/2006/main">
              <a:ext uri="{FF2B5EF4-FFF2-40B4-BE49-F238E27FC236}">
                <a16:creationId xmlns:a16="http://schemas.microsoft.com/office/drawing/2014/main" id="{ABE9DB26-7EF1-4494-8ACA-BE3E65D9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52800"/>
            <a:ext cx="523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data-text-2-1">
            <a:extLst xmlns:a="http://schemas.openxmlformats.org/drawingml/2006/main">
              <a:ext uri="{FF2B5EF4-FFF2-40B4-BE49-F238E27FC236}">
                <a16:creationId xmlns:a16="http://schemas.microsoft.com/office/drawing/2014/main" id="{531FE87C-ED12-4ECE-AD0C-456DA0A7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448050"/>
            <a:ext cx="499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Content-addressed bytes and pin state</a:t>
            </a:r>
          </a:p>
        </p:txBody>
      </p:sp>
      <p:sp>
        <p:nvSpPr>
          <p:cNvPr id="26" name="data-2-2">
            <a:extLst xmlns:a="http://schemas.openxmlformats.org/drawingml/2006/main">
              <a:ext uri="{FF2B5EF4-FFF2-40B4-BE49-F238E27FC236}">
                <a16:creationId xmlns:a16="http://schemas.microsoft.com/office/drawing/2014/main" id="{D2658B40-D4AC-471D-9B74-7A65923A4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52800"/>
            <a:ext cx="390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7" name="data-text-2-2">
            <a:extLst xmlns:a="http://schemas.openxmlformats.org/drawingml/2006/main">
              <a:ext uri="{FF2B5EF4-FFF2-40B4-BE49-F238E27FC236}">
                <a16:creationId xmlns:a16="http://schemas.microsoft.com/office/drawing/2014/main" id="{17C1906B-38B4-49F5-916B-63C6BC20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448050"/>
            <a:ext cx="3657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B77"/>
                </a:solidFill>
                <a:latin typeface="Arial"/>
                <a:ea typeface="Arial"/>
                <a:cs typeface="Arial"/>
              </a:rPr>
              <a:t>Business authorization policy</a:t>
            </a:r>
          </a:p>
        </p:txBody>
      </p:sp>
      <p:sp>
        <p:nvSpPr>
          <p:cNvPr id="28" name="data-3-0">
            <a:extLst xmlns:a="http://schemas.openxmlformats.org/drawingml/2006/main">
              <a:ext uri="{FF2B5EF4-FFF2-40B4-BE49-F238E27FC236}">
                <a16:creationId xmlns:a16="http://schemas.microsoft.com/office/drawing/2014/main" id="{C70BFDE3-AF2F-4C86-B4A7-2F5C33A0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3860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9" name="data-text-3-0">
            <a:extLst xmlns:a="http://schemas.openxmlformats.org/drawingml/2006/main">
              <a:ext uri="{FF2B5EF4-FFF2-40B4-BE49-F238E27FC236}">
                <a16:creationId xmlns:a16="http://schemas.microsoft.com/office/drawing/2014/main" id="{54729A68-AF17-4590-B17C-E5750F6A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13385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Kafka</a:t>
            </a:r>
          </a:p>
        </p:txBody>
      </p:sp>
      <p:sp>
        <p:nvSpPr>
          <p:cNvPr id="30" name="data-3-1">
            <a:extLst xmlns:a="http://schemas.openxmlformats.org/drawingml/2006/main">
              <a:ext uri="{FF2B5EF4-FFF2-40B4-BE49-F238E27FC236}">
                <a16:creationId xmlns:a16="http://schemas.microsoft.com/office/drawing/2014/main" id="{317154C0-C6C4-40A7-8F6E-B555AF53E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38600"/>
            <a:ext cx="523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data-text-3-1">
            <a:extLst xmlns:a="http://schemas.openxmlformats.org/drawingml/2006/main">
              <a:ext uri="{FF2B5EF4-FFF2-40B4-BE49-F238E27FC236}">
                <a16:creationId xmlns:a16="http://schemas.microsoft.com/office/drawing/2014/main" id="{AF94AB5F-F4B7-4366-8F44-3E77AEDD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133850"/>
            <a:ext cx="499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Availability event, effect ID, reserved headers, offset</a:t>
            </a:r>
          </a:p>
        </p:txBody>
      </p:sp>
      <p:sp>
        <p:nvSpPr>
          <p:cNvPr id="32" name="data-3-2">
            <a:extLst xmlns:a="http://schemas.openxmlformats.org/drawingml/2006/main">
              <a:ext uri="{FF2B5EF4-FFF2-40B4-BE49-F238E27FC236}">
                <a16:creationId xmlns:a16="http://schemas.microsoft.com/office/drawing/2014/main" id="{C1285D35-483B-499B-8DE6-A4F8C0E4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38600"/>
            <a:ext cx="390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data-text-3-2">
            <a:extLst xmlns:a="http://schemas.openxmlformats.org/drawingml/2006/main">
              <a:ext uri="{FF2B5EF4-FFF2-40B4-BE49-F238E27FC236}">
                <a16:creationId xmlns:a16="http://schemas.microsoft.com/office/drawing/2014/main" id="{9360E5FA-1DDB-4184-9101-C25A28A2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133850"/>
            <a:ext cx="3657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B77"/>
                </a:solidFill>
                <a:latin typeface="Arial"/>
                <a:ea typeface="Arial"/>
                <a:cs typeface="Arial"/>
              </a:rPr>
              <a:t>Complete app-chain database or secrets</a:t>
            </a:r>
          </a:p>
        </p:txBody>
      </p:sp>
      <p:sp>
        <p:nvSpPr>
          <p:cNvPr id="34" name="data-4-0">
            <a:extLst xmlns:a="http://schemas.openxmlformats.org/drawingml/2006/main">
              <a:ext uri="{FF2B5EF4-FFF2-40B4-BE49-F238E27FC236}">
                <a16:creationId xmlns:a16="http://schemas.microsoft.com/office/drawing/2014/main" id="{8DE8EB32-D125-47BC-8B58-09B6DDD35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2440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5" name="data-text-4-0">
            <a:extLst xmlns:a="http://schemas.openxmlformats.org/drawingml/2006/main">
              <a:ext uri="{FF2B5EF4-FFF2-40B4-BE49-F238E27FC236}">
                <a16:creationId xmlns:a16="http://schemas.microsoft.com/office/drawing/2014/main" id="{F291A154-D4AE-4C29-A93C-E8C2D36E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81965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Cardano</a:t>
            </a:r>
          </a:p>
        </p:txBody>
      </p:sp>
      <p:sp>
        <p:nvSpPr>
          <p:cNvPr id="36" name="data-4-1">
            <a:extLst xmlns:a="http://schemas.openxmlformats.org/drawingml/2006/main">
              <a:ext uri="{FF2B5EF4-FFF2-40B4-BE49-F238E27FC236}">
                <a16:creationId xmlns:a16="http://schemas.microsoft.com/office/drawing/2014/main" id="{3A17C0B0-BBCA-435C-9897-04D58721D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724400"/>
            <a:ext cx="523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7" name="data-text-4-1">
            <a:extLst xmlns:a="http://schemas.openxmlformats.org/drawingml/2006/main">
              <a:ext uri="{FF2B5EF4-FFF2-40B4-BE49-F238E27FC236}">
                <a16:creationId xmlns:a16="http://schemas.microsoft.com/office/drawing/2014/main" id="{827A2F2A-12B2-4ABB-8C67-DA44F71C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4819650"/>
            <a:ext cx="499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Certified height, block hash, root, members, threshold</a:t>
            </a:r>
          </a:p>
        </p:txBody>
      </p:sp>
      <p:sp>
        <p:nvSpPr>
          <p:cNvPr id="38" name="data-4-2">
            <a:extLst xmlns:a="http://schemas.openxmlformats.org/drawingml/2006/main">
              <a:ext uri="{FF2B5EF4-FFF2-40B4-BE49-F238E27FC236}">
                <a16:creationId xmlns:a16="http://schemas.microsoft.com/office/drawing/2014/main" id="{0273E72A-EC8B-417F-BBD7-9BF9DE7D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724400"/>
            <a:ext cx="390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9" name="data-text-4-2">
            <a:extLst xmlns:a="http://schemas.openxmlformats.org/drawingml/2006/main">
              <a:ext uri="{FF2B5EF4-FFF2-40B4-BE49-F238E27FC236}">
                <a16:creationId xmlns:a16="http://schemas.microsoft.com/office/drawing/2014/main" id="{2EEA0102-7CC6-44BE-AA1D-45BEBA41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819650"/>
            <a:ext cx="3657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B77"/>
                </a:solidFill>
                <a:latin typeface="Arial"/>
                <a:ea typeface="Arial"/>
                <a:cs typeface="Arial"/>
              </a:rPr>
              <a:t>Document and every app message</a:t>
            </a:r>
          </a:p>
        </p:txBody>
      </p:sp>
      <p:sp>
        <p:nvSpPr>
          <p:cNvPr id="40" name="data-5-0">
            <a:extLst xmlns:a="http://schemas.openxmlformats.org/drawingml/2006/main">
              <a:ext uri="{FF2B5EF4-FFF2-40B4-BE49-F238E27FC236}">
                <a16:creationId xmlns:a16="http://schemas.microsoft.com/office/drawing/2014/main" id="{43AC792B-8FE7-48B6-BBFC-4F72C098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1020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1" name="data-text-5-0">
            <a:extLst xmlns:a="http://schemas.openxmlformats.org/drawingml/2006/main">
              <a:ext uri="{FF2B5EF4-FFF2-40B4-BE49-F238E27FC236}">
                <a16:creationId xmlns:a16="http://schemas.microsoft.com/office/drawing/2014/main" id="{A110D62C-DCA6-4B8B-87F1-4DEA1A63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50545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Report UI</a:t>
            </a:r>
          </a:p>
        </p:txBody>
      </p:sp>
      <p:sp>
        <p:nvSpPr>
          <p:cNvPr id="42" name="data-5-1">
            <a:extLst xmlns:a="http://schemas.openxmlformats.org/drawingml/2006/main">
              <a:ext uri="{FF2B5EF4-FFF2-40B4-BE49-F238E27FC236}">
                <a16:creationId xmlns:a16="http://schemas.microsoft.com/office/drawing/2014/main" id="{8DE1E50C-FAA0-401F-9924-30A4ACD5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410200"/>
            <a:ext cx="523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data-text-5-1">
            <a:extLst xmlns:a="http://schemas.openxmlformats.org/drawingml/2006/main">
              <a:ext uri="{FF2B5EF4-FFF2-40B4-BE49-F238E27FC236}">
                <a16:creationId xmlns:a16="http://schemas.microsoft.com/office/drawing/2014/main" id="{2706696D-2E67-4569-8223-A3E287E1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5505450"/>
            <a:ext cx="4991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Sanitized verification outcome and external receipts</a:t>
            </a:r>
          </a:p>
        </p:txBody>
      </p:sp>
      <p:sp>
        <p:nvSpPr>
          <p:cNvPr id="44" name="data-5-2">
            <a:extLst xmlns:a="http://schemas.openxmlformats.org/drawingml/2006/main">
              <a:ext uri="{FF2B5EF4-FFF2-40B4-BE49-F238E27FC236}">
                <a16:creationId xmlns:a16="http://schemas.microsoft.com/office/drawing/2014/main" id="{DD0333FF-1D09-4201-A785-FD9AF943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10200"/>
            <a:ext cx="3905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data-text-5-2">
            <a:extLst xmlns:a="http://schemas.openxmlformats.org/drawingml/2006/main">
              <a:ext uri="{FF2B5EF4-FFF2-40B4-BE49-F238E27FC236}">
                <a16:creationId xmlns:a16="http://schemas.microsoft.com/office/drawing/2014/main" id="{D49D5CCC-CF39-4866-80C6-A5B6D84E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505450"/>
            <a:ext cx="3657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6B7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B77"/>
                </a:solidFill>
                <a:latin typeface="Arial"/>
                <a:ea typeface="Arial"/>
                <a:cs typeface="Arial"/>
              </a:rPr>
              <a:t>API keys, S3 secrets, member seeds</a:t>
            </a:r>
          </a:p>
        </p:txBody>
      </p:sp>
    </p:spTree>
    <p:extLst>
      <p:ext uri="{BB962C8B-B14F-4D97-AF65-F5344CB8AC3E}">
        <p14:creationId xmlns:p14="http://schemas.microsoft.com/office/powerpoint/2010/main" val="19474711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12">
            <a:extLst xmlns:a="http://schemas.openxmlformats.org/drawingml/2006/main">
              <a:ext uri="{FF2B5EF4-FFF2-40B4-BE49-F238E27FC236}">
                <a16:creationId xmlns:a16="http://schemas.microsoft.com/office/drawing/2014/main" id="{5A4BD62D-987B-4D15-8295-21C677FD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YANO EVIDENCE CHAIN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8B2AD28F-8FA8-4331-B541-BEC16FDDC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lifecycle makes business intent explicit</a:t>
            </a:r>
          </a:p>
        </p:txBody>
      </p:sp>
      <p:sp>
        <p:nvSpPr>
          <p:cNvPr id="3" name="footer-12">
            <a:extLst xmlns:a="http://schemas.openxmlformats.org/drawingml/2006/main">
              <a:ext uri="{FF2B5EF4-FFF2-40B4-BE49-F238E27FC236}">
                <a16:creationId xmlns:a16="http://schemas.microsoft.com/office/drawing/2014/main" id="{D450E985-1A05-430D-BE68-20AD2BBD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B7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lifecycle-publish-surface">
            <a:extLst xmlns:a="http://schemas.openxmlformats.org/drawingml/2006/main">
              <a:ext uri="{FF2B5EF4-FFF2-40B4-BE49-F238E27FC236}">
                <a16:creationId xmlns:a16="http://schemas.microsoft.com/office/drawing/2014/main" id="{413D4B28-244B-43EA-A96B-62AE396E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33718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ifecycle-publish-title">
            <a:extLst xmlns:a="http://schemas.openxmlformats.org/drawingml/2006/main">
              <a:ext uri="{FF2B5EF4-FFF2-40B4-BE49-F238E27FC236}">
                <a16:creationId xmlns:a16="http://schemas.microsoft.com/office/drawing/2014/main" id="{7E6D0A87-0809-42FC-9D93-841791400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5740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publish</a:t>
            </a:r>
          </a:p>
        </p:txBody>
      </p:sp>
      <p:sp>
        <p:nvSpPr>
          <p:cNvPr id="6" name="lifecycle-publish-body">
            <a:extLst xmlns:a="http://schemas.openxmlformats.org/drawingml/2006/main">
              <a:ext uri="{FF2B5EF4-FFF2-40B4-BE49-F238E27FC236}">
                <a16:creationId xmlns:a16="http://schemas.microsoft.com/office/drawing/2014/main" id="{78230842-1B49-4D39-9686-B3EA3A16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Create version 1</a:t>
            </a:r>
          </a:p>
        </p:txBody>
      </p:sp>
      <p:sp>
        <p:nvSpPr>
          <p:cNvPr id="7" name="lifecycle-republish-surface">
            <a:extLst xmlns:a="http://schemas.openxmlformats.org/drawingml/2006/main">
              <a:ext uri="{FF2B5EF4-FFF2-40B4-BE49-F238E27FC236}">
                <a16:creationId xmlns:a16="http://schemas.microsoft.com/office/drawing/2014/main" id="{1734FAB1-F315-4F3D-AC81-DDD86072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09750"/>
            <a:ext cx="33718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ifecycle-republish-title">
            <a:extLst xmlns:a="http://schemas.openxmlformats.org/drawingml/2006/main">
              <a:ext uri="{FF2B5EF4-FFF2-40B4-BE49-F238E27FC236}">
                <a16:creationId xmlns:a16="http://schemas.microsoft.com/office/drawing/2014/main" id="{8AFDC593-823F-45FD-8AD1-76647981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5740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republish</a:t>
            </a:r>
          </a:p>
        </p:txBody>
      </p:sp>
      <p:sp>
        <p:nvSpPr>
          <p:cNvPr id="9" name="lifecycle-republish-body">
            <a:extLst xmlns:a="http://schemas.openxmlformats.org/drawingml/2006/main">
              <a:ext uri="{FF2B5EF4-FFF2-40B4-BE49-F238E27FC236}">
                <a16:creationId xmlns:a16="http://schemas.microsoft.com/office/drawing/2014/main" id="{BE604BAF-AAD0-402C-AF0A-8F6CDA2A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098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Create exactly latest + 1</a:t>
            </a:r>
          </a:p>
        </p:txBody>
      </p:sp>
      <p:sp>
        <p:nvSpPr>
          <p:cNvPr id="10" name="lifecycle-verify-surface">
            <a:extLst xmlns:a="http://schemas.openxmlformats.org/drawingml/2006/main">
              <a:ext uri="{FF2B5EF4-FFF2-40B4-BE49-F238E27FC236}">
                <a16:creationId xmlns:a16="http://schemas.microsoft.com/office/drawing/2014/main" id="{0A40B490-9E76-4A0B-B869-3F459707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33718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lifecycle-verify-title">
            <a:extLst xmlns:a="http://schemas.openxmlformats.org/drawingml/2006/main">
              <a:ext uri="{FF2B5EF4-FFF2-40B4-BE49-F238E27FC236}">
                <a16:creationId xmlns:a16="http://schemas.microsoft.com/office/drawing/2014/main" id="{C3ACB88E-8A3D-4C6B-8805-45243F58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5740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12" name="lifecycle-verify-body">
            <a:extLst xmlns:a="http://schemas.openxmlformats.org/drawingml/2006/main">
              <a:ext uri="{FF2B5EF4-FFF2-40B4-BE49-F238E27FC236}">
                <a16:creationId xmlns:a16="http://schemas.microsoft.com/office/drawing/2014/main" id="{A4A2D3EF-2853-42D4-BB98-31E40C93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609850"/>
            <a:ext cx="2876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224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Read and prove; no mutation</a:t>
            </a:r>
          </a:p>
        </p:txBody>
      </p:sp>
      <p:sp>
        <p:nvSpPr>
          <p:cNvPr id="13" name="lifecycle-replay-surface">
            <a:extLst xmlns:a="http://schemas.openxmlformats.org/drawingml/2006/main">
              <a:ext uri="{FF2B5EF4-FFF2-40B4-BE49-F238E27FC236}">
                <a16:creationId xmlns:a16="http://schemas.microsoft.com/office/drawing/2014/main" id="{061F5C63-E314-4339-BEF5-C6548F32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0"/>
            <a:ext cx="5334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ifecycle-replay-title">
            <a:extLst xmlns:a="http://schemas.openxmlformats.org/drawingml/2006/main">
              <a:ext uri="{FF2B5EF4-FFF2-40B4-BE49-F238E27FC236}">
                <a16:creationId xmlns:a16="http://schemas.microsoft.com/office/drawing/2014/main" id="{A4917E25-1B63-40DC-A3A5-3E76347D8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48150"/>
            <a:ext cx="4838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replay</a:t>
            </a:r>
          </a:p>
        </p:txBody>
      </p:sp>
      <p:sp>
        <p:nvSpPr>
          <p:cNvPr id="15" name="lifecycle-replay-body">
            <a:extLst xmlns:a="http://schemas.openxmlformats.org/drawingml/2006/main">
              <a:ext uri="{FF2B5EF4-FFF2-40B4-BE49-F238E27FC236}">
                <a16:creationId xmlns:a16="http://schemas.microsoft.com/office/drawing/2014/main" id="{1907B459-6030-416B-87C9-E13AEA91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00600"/>
            <a:ext cx="4838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Finalize exact no-op envelope</a:t>
            </a:r>
          </a:p>
        </p:txBody>
      </p:sp>
      <p:sp>
        <p:nvSpPr>
          <p:cNvPr id="16" name="lifecycle-load-surface">
            <a:extLst xmlns:a="http://schemas.openxmlformats.org/drawingml/2006/main">
              <a:ext uri="{FF2B5EF4-FFF2-40B4-BE49-F238E27FC236}">
                <a16:creationId xmlns:a16="http://schemas.microsoft.com/office/drawing/2014/main" id="{2D1A4C0D-B550-42CC-8999-3E066EB2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00500"/>
            <a:ext cx="5334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lifecycle-load-title">
            <a:extLst xmlns:a="http://schemas.openxmlformats.org/drawingml/2006/main">
              <a:ext uri="{FF2B5EF4-FFF2-40B4-BE49-F238E27FC236}">
                <a16:creationId xmlns:a16="http://schemas.microsoft.com/office/drawing/2014/main" id="{374C49C4-EF05-42AB-BB8E-D07D3C8F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48150"/>
            <a:ext cx="4838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load</a:t>
            </a:r>
          </a:p>
        </p:txBody>
      </p:sp>
      <p:sp>
        <p:nvSpPr>
          <p:cNvPr id="18" name="lifecycle-load-body">
            <a:extLst xmlns:a="http://schemas.openxmlformats.org/drawingml/2006/main">
              <a:ext uri="{FF2B5EF4-FFF2-40B4-BE49-F238E27FC236}">
                <a16:creationId xmlns:a16="http://schemas.microsoft.com/office/drawing/2014/main" id="{EA9A78A4-19E5-477E-9EF1-3A2DC375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00600"/>
            <a:ext cx="4838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Many normal full workflows</a:t>
            </a:r>
          </a:p>
        </p:txBody>
      </p:sp>
      <p:sp>
        <p:nvSpPr>
          <p:cNvPr id="19" name="lifecycle-footer">
            <a:extLst xmlns:a="http://schemas.openxmlformats.org/drawingml/2006/main">
              <a:ext uri="{FF2B5EF4-FFF2-40B4-BE49-F238E27FC236}">
                <a16:creationId xmlns:a16="http://schemas.microsoft.com/office/drawing/2014/main" id="{1B3356F8-E5E2-41ED-B1C1-C6827E63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924550"/>
            <a:ext cx="929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2441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Changing bytes never silently overwrites an accepted version. The caller must choose republish explicitly.</a:t>
            </a:r>
          </a:p>
        </p:txBody>
      </p:sp>
    </p:spTree>
    <p:extLst>
      <p:ext uri="{BB962C8B-B14F-4D97-AF65-F5344CB8AC3E}">
        <p14:creationId xmlns:p14="http://schemas.microsoft.com/office/powerpoint/2010/main" val="108934497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kicker-13">
            <a:extLst xmlns:a="http://schemas.openxmlformats.org/drawingml/2006/main">
              <a:ext uri="{FF2B5EF4-FFF2-40B4-BE49-F238E27FC236}">
                <a16:creationId xmlns:a16="http://schemas.microsoft.com/office/drawing/2014/main" id="{16FB880F-6E37-4681-BF57-695D8751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YANO EVIDENCE CHAIN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DAB1354A-5819-47DE-AF0E-566360B7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Failures retry without rewriting the decision</a:t>
            </a:r>
          </a:p>
        </p:txBody>
      </p:sp>
      <p:sp>
        <p:nvSpPr>
          <p:cNvPr id="3" name="footer-13">
            <a:extLst xmlns:a="http://schemas.openxmlformats.org/drawingml/2006/main">
              <a:ext uri="{FF2B5EF4-FFF2-40B4-BE49-F238E27FC236}">
                <a16:creationId xmlns:a16="http://schemas.microsoft.com/office/drawing/2014/main" id="{AFA461B3-3FD2-4677-A282-8E43E64C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B7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failure-intro">
            <a:extLst xmlns:a="http://schemas.openxmlformats.org/drawingml/2006/main">
              <a:ext uri="{FF2B5EF4-FFF2-40B4-BE49-F238E27FC236}">
                <a16:creationId xmlns:a16="http://schemas.microsoft.com/office/drawing/2014/main" id="{61DAF75E-9AA2-4FFF-BEBD-2A43102D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26B77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6B77"/>
                </a:solidFill>
                <a:latin typeface="Arial"/>
                <a:ea typeface="Arial"/>
                <a:cs typeface="Arial"/>
              </a:rPr>
              <a:t>The immutable effect survives process failure; the executor reconciles before acting again.</a:t>
            </a:r>
          </a:p>
        </p:txBody>
      </p:sp>
      <p:sp>
        <p:nvSpPr>
          <p:cNvPr id="5" name="failure-before-surface">
            <a:extLst xmlns:a="http://schemas.openxmlformats.org/drawingml/2006/main">
              <a:ext uri="{FF2B5EF4-FFF2-40B4-BE49-F238E27FC236}">
                <a16:creationId xmlns:a16="http://schemas.microsoft.com/office/drawing/2014/main" id="{B4BC3EBD-96A3-4B2C-A2FA-25B849788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05050"/>
            <a:ext cx="33718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ailure-before-title">
            <a:extLst xmlns:a="http://schemas.openxmlformats.org/drawingml/2006/main">
              <a:ext uri="{FF2B5EF4-FFF2-40B4-BE49-F238E27FC236}">
                <a16:creationId xmlns:a16="http://schemas.microsoft.com/office/drawing/2014/main" id="{31E5EA89-006D-4C3B-A889-3B2DD56D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Crash before action</a:t>
            </a:r>
          </a:p>
        </p:txBody>
      </p:sp>
      <p:sp>
        <p:nvSpPr>
          <p:cNvPr id="7" name="failure-before-body">
            <a:extLst xmlns:a="http://schemas.openxmlformats.org/drawingml/2006/main">
              <a:ext uri="{FF2B5EF4-FFF2-40B4-BE49-F238E27FC236}">
                <a16:creationId xmlns:a16="http://schemas.microsoft.com/office/drawing/2014/main" id="{B21B0E75-033F-49FB-99D6-14E88644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05150"/>
            <a:ext cx="28765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same effect remains pending and can be retried or handed to a fenced replacement executor.</a:t>
            </a:r>
          </a:p>
        </p:txBody>
      </p:sp>
      <p:sp>
        <p:nvSpPr>
          <p:cNvPr id="8" name="failure-after-surface">
            <a:extLst xmlns:a="http://schemas.openxmlformats.org/drawingml/2006/main">
              <a:ext uri="{FF2B5EF4-FFF2-40B4-BE49-F238E27FC236}">
                <a16:creationId xmlns:a16="http://schemas.microsoft.com/office/drawing/2014/main" id="{78249C73-E742-4D2C-85F6-6030D8619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05050"/>
            <a:ext cx="337185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ailure-after-title">
            <a:extLst xmlns:a="http://schemas.openxmlformats.org/drawingml/2006/main">
              <a:ext uri="{FF2B5EF4-FFF2-40B4-BE49-F238E27FC236}">
                <a16:creationId xmlns:a16="http://schemas.microsoft.com/office/drawing/2014/main" id="{85D4FAE6-465F-4E44-A6AB-34BCC6B1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52700"/>
            <a:ext cx="2876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91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Acknowledgement lost</a:t>
            </a:r>
          </a:p>
        </p:txBody>
      </p:sp>
      <p:sp>
        <p:nvSpPr>
          <p:cNvPr id="10" name="failure-after-body">
            <a:extLst xmlns:a="http://schemas.openxmlformats.org/drawingml/2006/main">
              <a:ext uri="{FF2B5EF4-FFF2-40B4-BE49-F238E27FC236}">
                <a16:creationId xmlns:a16="http://schemas.microsoft.com/office/drawing/2014/main" id="{C7419F9E-D881-4688-801E-DA38F3FE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05150"/>
            <a:ext cx="28765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Probe by effect ID, object version, CID/pin, or submitted reference before repeating work.</a:t>
            </a:r>
          </a:p>
        </p:txBody>
      </p:sp>
      <p:sp>
        <p:nvSpPr>
          <p:cNvPr id="11" name="failure-member-surface">
            <a:extLst xmlns:a="http://schemas.openxmlformats.org/drawingml/2006/main">
              <a:ext uri="{FF2B5EF4-FFF2-40B4-BE49-F238E27FC236}">
                <a16:creationId xmlns:a16="http://schemas.microsoft.com/office/drawing/2014/main" id="{DFF4260A-A247-445F-8D62-86ABC8BF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05050"/>
            <a:ext cx="3124200" cy="2667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ailure-member-title">
            <a:extLst xmlns:a="http://schemas.openxmlformats.org/drawingml/2006/main">
              <a:ext uri="{FF2B5EF4-FFF2-40B4-BE49-F238E27FC236}">
                <a16:creationId xmlns:a16="http://schemas.microsoft.com/office/drawing/2014/main" id="{0037FB13-97BA-47EA-86B3-26C41182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52700"/>
            <a:ext cx="2628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Member restarts</a:t>
            </a:r>
          </a:p>
        </p:txBody>
      </p:sp>
      <p:sp>
        <p:nvSpPr>
          <p:cNvPr id="13" name="failure-member-body">
            <a:extLst xmlns:a="http://schemas.openxmlformats.org/drawingml/2006/main">
              <a:ext uri="{FF2B5EF4-FFF2-40B4-BE49-F238E27FC236}">
                <a16:creationId xmlns:a16="http://schemas.microsoft.com/office/drawing/2014/main" id="{D681D129-4E7C-4CCD-AAF9-7F82C2B2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105150"/>
            <a:ext cx="26289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Replay finalized blocks and independently rebuild the same state root before serving evidence.</a:t>
            </a:r>
          </a:p>
        </p:txBody>
      </p:sp>
      <p:sp>
        <p:nvSpPr>
          <p:cNvPr id="14" name="failure-guarantee">
            <a:extLst xmlns:a="http://schemas.openxmlformats.org/drawingml/2006/main">
              <a:ext uri="{FF2B5EF4-FFF2-40B4-BE49-F238E27FC236}">
                <a16:creationId xmlns:a16="http://schemas.microsoft.com/office/drawing/2014/main" id="{CD31BFC6-4B29-4249-8C9B-913A3283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505450"/>
            <a:ext cx="861060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Exactly-once incorporation • at-least-once execution • idempotent connectors</a:t>
            </a:r>
          </a:p>
        </p:txBody>
      </p:sp>
    </p:spTree>
    <p:extLst>
      <p:ext uri="{BB962C8B-B14F-4D97-AF65-F5344CB8AC3E}">
        <p14:creationId xmlns:p14="http://schemas.microsoft.com/office/powerpoint/2010/main" val="196319270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kicker-14">
            <a:extLst xmlns:a="http://schemas.openxmlformats.org/drawingml/2006/main">
              <a:ext uri="{FF2B5EF4-FFF2-40B4-BE49-F238E27FC236}">
                <a16:creationId xmlns:a16="http://schemas.microsoft.com/office/drawing/2014/main" id="{18B342FE-71C7-4B47-A3F1-543F50FB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YANO EVIDENCE CHAIN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51050EEB-D86F-40EB-99E7-589883A1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626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demo proves authorization and observation—not physical truth</a:t>
            </a:r>
          </a:p>
        </p:txBody>
      </p:sp>
      <p:sp>
        <p:nvSpPr>
          <p:cNvPr id="3" name="footer-14">
            <a:extLst xmlns:a="http://schemas.openxmlformats.org/drawingml/2006/main">
              <a:ext uri="{FF2B5EF4-FFF2-40B4-BE49-F238E27FC236}">
                <a16:creationId xmlns:a16="http://schemas.microsoft.com/office/drawing/2014/main" id="{DA83E8AF-D2EF-4DB9-AD7B-782EEB48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B77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proves-surface">
            <a:extLst xmlns:a="http://schemas.openxmlformats.org/drawingml/2006/main">
              <a:ext uri="{FF2B5EF4-FFF2-40B4-BE49-F238E27FC236}">
                <a16:creationId xmlns:a16="http://schemas.microsoft.com/office/drawing/2014/main" id="{AE27A4B7-9588-4718-B62F-DB945EEC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90700"/>
            <a:ext cx="5295900" cy="382905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roves-title">
            <a:extLst xmlns:a="http://schemas.openxmlformats.org/drawingml/2006/main">
              <a:ext uri="{FF2B5EF4-FFF2-40B4-BE49-F238E27FC236}">
                <a16:creationId xmlns:a16="http://schemas.microsoft.com/office/drawing/2014/main" id="{8B808A31-18BA-49B3-8D55-1C9FC68DC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4800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97A5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97A55"/>
                </a:solidFill>
                <a:latin typeface="Arial"/>
                <a:ea typeface="Arial"/>
                <a:cs typeface="Arial"/>
              </a:rPr>
              <a:t>It can prove</a:t>
            </a:r>
          </a:p>
        </p:txBody>
      </p:sp>
      <p:sp>
        <p:nvSpPr>
          <p:cNvPr id="6" name="proves-body">
            <a:extLst xmlns:a="http://schemas.openxmlformats.org/drawingml/2006/main">
              <a:ext uri="{FF2B5EF4-FFF2-40B4-BE49-F238E27FC236}">
                <a16:creationId xmlns:a16="http://schemas.microsoft.com/office/drawing/2014/main" id="{140D17D3-EC52-4B57-905E-180338BC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90800"/>
            <a:ext cx="48006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Who finalized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Which exact version and hash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Which effects were authorized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Which outcomes were observed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Which root was anchored</a:t>
            </a:r>
          </a:p>
        </p:txBody>
      </p:sp>
      <p:sp>
        <p:nvSpPr>
          <p:cNvPr id="7" name="not-proves-surface">
            <a:extLst xmlns:a="http://schemas.openxmlformats.org/drawingml/2006/main">
              <a:ext uri="{FF2B5EF4-FFF2-40B4-BE49-F238E27FC236}">
                <a16:creationId xmlns:a16="http://schemas.microsoft.com/office/drawing/2014/main" id="{49BAEFA5-719E-4E6B-9D02-C65E86F5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5410200" cy="382905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not-proves-title">
            <a:extLst xmlns:a="http://schemas.openxmlformats.org/drawingml/2006/main">
              <a:ext uri="{FF2B5EF4-FFF2-40B4-BE49-F238E27FC236}">
                <a16:creationId xmlns:a16="http://schemas.microsoft.com/office/drawing/2014/main" id="{D64CAE2E-716C-4837-A249-9D12F541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38350"/>
            <a:ext cx="49149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05B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05B00"/>
                </a:solidFill>
                <a:latin typeface="Arial"/>
                <a:ea typeface="Arial"/>
                <a:cs typeface="Arial"/>
              </a:rPr>
              <a:t>It cannot prove alone</a:t>
            </a:r>
          </a:p>
        </p:txBody>
      </p:sp>
      <p:sp>
        <p:nvSpPr>
          <p:cNvPr id="9" name="not-proves-body">
            <a:extLst xmlns:a="http://schemas.openxmlformats.org/drawingml/2006/main">
              <a:ext uri="{FF2B5EF4-FFF2-40B4-BE49-F238E27FC236}">
                <a16:creationId xmlns:a16="http://schemas.microsoft.com/office/drawing/2014/main" id="{1DDAE6CF-A19D-44A9-976D-0CCE4FFF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90800"/>
            <a:ext cx="49149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That the physical inspection is true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That an inspector is competent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That domain regulation was satisfied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That external data remains available forever</a:t>
            </a:r>
          </a:p>
        </p:txBody>
      </p:sp>
      <p:sp>
        <p:nvSpPr>
          <p:cNvPr id="10" name="truth-footer">
            <a:extLst xmlns:a="http://schemas.openxmlformats.org/drawingml/2006/main">
              <a:ext uri="{FF2B5EF4-FFF2-40B4-BE49-F238E27FC236}">
                <a16:creationId xmlns:a16="http://schemas.microsoft.com/office/drawing/2014/main" id="{D2F714AC-65ED-4234-9492-398020A0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886450"/>
            <a:ext cx="9067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Domain plugins define who may act, which credentials count, and what makes a claim valid.</a:t>
            </a:r>
          </a:p>
        </p:txBody>
      </p:sp>
    </p:spTree>
    <p:extLst>
      <p:ext uri="{BB962C8B-B14F-4D97-AF65-F5344CB8AC3E}">
        <p14:creationId xmlns:p14="http://schemas.microsoft.com/office/powerpoint/2010/main" val="46007945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-15">
            <a:extLst xmlns:a="http://schemas.openxmlformats.org/drawingml/2006/main">
              <a:ext uri="{FF2B5EF4-FFF2-40B4-BE49-F238E27FC236}">
                <a16:creationId xmlns:a16="http://schemas.microsoft.com/office/drawing/2014/main" id="{ABCF174C-55A4-4555-8ED4-F1821D3C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YANO EVIDENCE CHAIN</a:t>
            </a:r>
          </a:p>
        </p:txBody>
      </p:sp>
      <p:sp>
        <p:nvSpPr>
          <p:cNvPr id="2" name="title-15">
            <a:extLst xmlns:a="http://schemas.openxmlformats.org/drawingml/2006/main">
              <a:ext uri="{FF2B5EF4-FFF2-40B4-BE49-F238E27FC236}">
                <a16:creationId xmlns:a16="http://schemas.microsoft.com/office/drawing/2014/main" id="{CEB47BFC-C626-44CC-AB88-AFEEAF31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749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Run with no application code; specialize through plugins</a:t>
            </a:r>
          </a:p>
        </p:txBody>
      </p:sp>
      <p:sp>
        <p:nvSpPr>
          <p:cNvPr id="3" name="footer-15">
            <a:extLst xmlns:a="http://schemas.openxmlformats.org/drawingml/2006/main">
              <a:ext uri="{FF2B5EF4-FFF2-40B4-BE49-F238E27FC236}">
                <a16:creationId xmlns:a16="http://schemas.microsoft.com/office/drawing/2014/main" id="{D15FA30C-A51D-44FE-8AE3-C206DFAF0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B77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extension-arrow">
            <a:extLst xmlns:a="http://schemas.openxmlformats.org/drawingml/2006/main">
              <a:ext uri="{FF2B5EF4-FFF2-40B4-BE49-F238E27FC236}">
                <a16:creationId xmlns:a16="http://schemas.microsoft.com/office/drawing/2014/main" id="{898D6BDD-C59E-4B90-8E53-81E0DBE7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371850"/>
            <a:ext cx="990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no-code-surface">
            <a:extLst xmlns:a="http://schemas.openxmlformats.org/drawingml/2006/main">
              <a:ext uri="{FF2B5EF4-FFF2-40B4-BE49-F238E27FC236}">
                <a16:creationId xmlns:a16="http://schemas.microsoft.com/office/drawing/2014/main" id="{8D0EF28A-F9EF-4C46-B54C-B31B2E59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4933950" cy="382905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no-code-title">
            <a:extLst xmlns:a="http://schemas.openxmlformats.org/drawingml/2006/main">
              <a:ext uri="{FF2B5EF4-FFF2-40B4-BE49-F238E27FC236}">
                <a16:creationId xmlns:a16="http://schemas.microsoft.com/office/drawing/2014/main" id="{090EE737-D1A5-4FBA-BEB8-D717BB02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57400"/>
            <a:ext cx="4438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No-code reference path</a:t>
            </a:r>
          </a:p>
        </p:txBody>
      </p:sp>
      <p:sp>
        <p:nvSpPr>
          <p:cNvPr id="7" name="no-code-body">
            <a:extLst xmlns:a="http://schemas.openxmlformats.org/drawingml/2006/main">
              <a:ext uri="{FF2B5EF4-FFF2-40B4-BE49-F238E27FC236}">
                <a16:creationId xmlns:a16="http://schemas.microsoft.com/office/drawing/2014/main" id="{F22D4215-DC74-4B7C-970F-95EB4E68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09850"/>
            <a:ext cx="443865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evidence-v1-gated composite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object.put + ipfs.pin + kafka.publish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Three members, threshold, anchoring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Launcher, runner, report UI</a:t>
            </a:r>
          </a:p>
        </p:txBody>
      </p:sp>
      <p:sp>
        <p:nvSpPr>
          <p:cNvPr id="8" name="plugin-path-surface">
            <a:extLst xmlns:a="http://schemas.openxmlformats.org/drawingml/2006/main">
              <a:ext uri="{FF2B5EF4-FFF2-40B4-BE49-F238E27FC236}">
                <a16:creationId xmlns:a16="http://schemas.microsoft.com/office/drawing/2014/main" id="{84CB7855-48DA-4FA2-A09F-C8C189A0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809750"/>
            <a:ext cx="4705350" cy="382905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lugin-path-title">
            <a:extLst xmlns:a="http://schemas.openxmlformats.org/drawingml/2006/main">
              <a:ext uri="{FF2B5EF4-FFF2-40B4-BE49-F238E27FC236}">
                <a16:creationId xmlns:a16="http://schemas.microsoft.com/office/drawing/2014/main" id="{1BD6C3AF-AB71-462A-8C4F-8593234F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57400"/>
            <a:ext cx="4210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Domain plugin path</a:t>
            </a:r>
          </a:p>
        </p:txBody>
      </p:sp>
      <p:sp>
        <p:nvSpPr>
          <p:cNvPr id="10" name="plugin-path-body">
            <a:extLst xmlns:a="http://schemas.openxmlformats.org/drawingml/2006/main">
              <a:ext uri="{FF2B5EF4-FFF2-40B4-BE49-F238E27FC236}">
                <a16:creationId xmlns:a16="http://schemas.microsoft.com/office/drawing/2014/main" id="{3EEE2C13-9927-4168-97DE-D4CBB0E1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09850"/>
            <a:ext cx="421005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Actor and credential rules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Schemas and validation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Custom workflows and queries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New executors, APIs, health, metrics</a:t>
            </a:r>
          </a:p>
        </p:txBody>
      </p:sp>
      <p:sp>
        <p:nvSpPr>
          <p:cNvPr id="11" name="extension-label">
            <a:extLst xmlns:a="http://schemas.openxmlformats.org/drawingml/2006/main">
              <a:ext uri="{FF2B5EF4-FFF2-40B4-BE49-F238E27FC236}">
                <a16:creationId xmlns:a16="http://schemas.microsoft.com/office/drawing/2014/main" id="{655BAEC5-3BF2-4F4A-832C-92E2726C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943350"/>
            <a:ext cx="1257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93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same app-chain</a:t>
            </a:r>
          </a:p>
          <a:p xmlns:a="http://schemas.openxmlformats.org/drawingml/2006/main">
            <a:pPr algn="ctr">
              <a:defRPr sz="12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framework</a:t>
            </a:r>
          </a:p>
        </p:txBody>
      </p:sp>
      <p:sp>
        <p:nvSpPr>
          <p:cNvPr id="12" name="extension-footer">
            <a:extLst xmlns:a="http://schemas.openxmlformats.org/drawingml/2006/main">
              <a:ext uri="{FF2B5EF4-FFF2-40B4-BE49-F238E27FC236}">
                <a16:creationId xmlns:a16="http://schemas.microsoft.com/office/drawing/2014/main" id="{EE252EA3-5D92-4C21-B3DD-AEC5BA55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9055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906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Consensus-visible profile order and versions remain explicit and governed.</a:t>
            </a:r>
          </a:p>
        </p:txBody>
      </p:sp>
    </p:spTree>
    <p:extLst>
      <p:ext uri="{BB962C8B-B14F-4D97-AF65-F5344CB8AC3E}">
        <p14:creationId xmlns:p14="http://schemas.microsoft.com/office/powerpoint/2010/main" val="35152280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kicker-16">
            <a:extLst xmlns:a="http://schemas.openxmlformats.org/drawingml/2006/main">
              <a:ext uri="{FF2B5EF4-FFF2-40B4-BE49-F238E27FC236}">
                <a16:creationId xmlns:a16="http://schemas.microsoft.com/office/drawing/2014/main" id="{6A7C156B-3ACB-4F23-8E6D-D4A7E040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YANO EVIDENCE CHAIN</a:t>
            </a:r>
          </a:p>
        </p:txBody>
      </p:sp>
      <p:sp>
        <p:nvSpPr>
          <p:cNvPr id="2" name="title-16">
            <a:extLst xmlns:a="http://schemas.openxmlformats.org/drawingml/2006/main">
              <a:ext uri="{FF2B5EF4-FFF2-40B4-BE49-F238E27FC236}">
                <a16:creationId xmlns:a16="http://schemas.microsoft.com/office/drawing/2014/main" id="{127B96B5-F77C-4F0F-A734-63FC6D6C8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04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live demo makes immutability visible</a:t>
            </a:r>
          </a:p>
        </p:txBody>
      </p:sp>
      <p:sp>
        <p:nvSpPr>
          <p:cNvPr id="3" name="footer-16">
            <a:extLst xmlns:a="http://schemas.openxmlformats.org/drawingml/2006/main">
              <a:ext uri="{FF2B5EF4-FFF2-40B4-BE49-F238E27FC236}">
                <a16:creationId xmlns:a16="http://schemas.microsoft.com/office/drawing/2014/main" id="{120DBD2A-EF4C-401E-BFC5-FB4F72DC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8175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1905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26B7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26B77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demo-observe-surface">
            <a:extLst xmlns:a="http://schemas.openxmlformats.org/drawingml/2006/main">
              <a:ext uri="{FF2B5EF4-FFF2-40B4-BE49-F238E27FC236}">
                <a16:creationId xmlns:a16="http://schemas.microsoft.com/office/drawing/2014/main" id="{EA4EA65A-70FB-4FC0-9DB6-7A59E167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4076700" cy="4305300"/>
          </a:xfrm>
          <a:prstGeom xmlns:a="http://schemas.openxmlformats.org/drawingml/2006/main" prst="roundRect">
            <a:avLst>
              <a:gd name="adj" fmla="val 2804"/>
            </a:avLst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mo-observe-title">
            <a:extLst xmlns:a="http://schemas.openxmlformats.org/drawingml/2006/main">
              <a:ext uri="{FF2B5EF4-FFF2-40B4-BE49-F238E27FC236}">
                <a16:creationId xmlns:a16="http://schemas.microsoft.com/office/drawing/2014/main" id="{49125DC3-E264-4DA6-8CF1-03366FAD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3581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Show these outcomes</a:t>
            </a:r>
          </a:p>
        </p:txBody>
      </p:sp>
      <p:sp>
        <p:nvSpPr>
          <p:cNvPr id="6" name="demo-observe-body">
            <a:extLst xmlns:a="http://schemas.openxmlformats.org/drawingml/2006/main">
              <a:ext uri="{FF2B5EF4-FFF2-40B4-BE49-F238E27FC236}">
                <a16:creationId xmlns:a16="http://schemas.microsoft.com/office/drawing/2014/main" id="{0E6F171E-8EAE-4196-9EC8-4CEF02C3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3581400" cy="3257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  Publish version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  Open the evidence report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  Verify without mutation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  Reject an existing ID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  Republish exact version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8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  Compare historical proofs</a:t>
            </a:r>
          </a:p>
        </p:txBody>
      </p:sp>
      <p:sp>
        <p:nvSpPr>
          <p:cNvPr id="7" name="demo-code">
            <a:extLst xmlns:a="http://schemas.openxmlformats.org/drawingml/2006/main">
              <a:ext uri="{FF2B5EF4-FFF2-40B4-BE49-F238E27FC236}">
                <a16:creationId xmlns:a16="http://schemas.microsoft.com/office/drawing/2014/main" id="{2F533117-5C70-4FC1-8CB8-74BC40CC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562100"/>
            <a:ext cx="6591300" cy="4305300"/>
          </a:xfrm>
          <a:prstGeom xmlns:a="http://schemas.openxmlformats.org/drawingml/2006/main" prst="roundRect">
            <a:avLst>
              <a:gd name="adj" fmla="val 2655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code-text">
            <a:extLst xmlns:a="http://schemas.openxmlformats.org/drawingml/2006/main">
              <a:ext uri="{FF2B5EF4-FFF2-40B4-BE49-F238E27FC236}">
                <a16:creationId xmlns:a16="http://schemas.microsoft.com/office/drawing/2014/main" id="{062C7188-8E8A-42B3-923C-2E716512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47850"/>
            <a:ext cx="59817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9FA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9FAFB"/>
                </a:solidFill>
                <a:latin typeface="Arial"/>
                <a:ea typeface="Arial"/>
                <a:cs typeface="Arial"/>
              </a:rPr>
              <a:t>./demo.sh prepare --instance talk-demo</a:t>
            </a:r>
          </a:p>
          <a:p xmlns:a="http://schemas.openxmlformats.org/drawingml/2006/main">
            <a:pPr algn="l">
              <a:defRPr sz="1500" b="0">
                <a:solidFill>
                  <a:srgbClr val="F9FA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9FAFB"/>
                </a:solidFill>
                <a:latin typeface="Arial"/>
                <a:ea typeface="Arial"/>
                <a:cs typeface="Arial"/>
              </a:rPr>
              <a:t>./demo.sh up --instance talk-demo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9FA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9FAFB"/>
                </a:solidFill>
                <a:latin typeface="Arial"/>
                <a:ea typeface="Arial"/>
                <a:cs typeface="Arial"/>
              </a:rPr>
              <a:t>./demo.sh publish --instance talk-demo \</a:t>
            </a:r>
          </a:p>
          <a:p xmlns:a="http://schemas.openxmlformats.org/drawingml/2006/main">
            <a:pPr algn="l">
              <a:defRPr sz="1500" b="0">
                <a:solidFill>
                  <a:srgbClr val="F9FA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9FAFB"/>
                </a:solidFill>
                <a:latin typeface="Arial"/>
                <a:ea typeface="Arial"/>
                <a:cs typeface="Arial"/>
              </a:rPr>
              <a:t>  --evidence-id inspection-product-a \</a:t>
            </a:r>
          </a:p>
          <a:p xmlns:a="http://schemas.openxmlformats.org/drawingml/2006/main">
            <a:pPr algn="l">
              <a:defRPr sz="1500" b="0">
                <a:solidFill>
                  <a:srgbClr val="F9FA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9FAFB"/>
                </a:solidFill>
                <a:latin typeface="Arial"/>
                <a:ea typeface="Arial"/>
                <a:cs typeface="Arial"/>
              </a:rPr>
              <a:t>  --sample-file samples/inspection-certificate.json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9FA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9FAFB"/>
                </a:solidFill>
                <a:latin typeface="Arial"/>
                <a:ea typeface="Arial"/>
                <a:cs typeface="Arial"/>
              </a:rPr>
              <a:t>./demo.sh verify --instance talk-demo \</a:t>
            </a:r>
          </a:p>
          <a:p xmlns:a="http://schemas.openxmlformats.org/drawingml/2006/main">
            <a:pPr algn="l">
              <a:defRPr sz="1500" b="0">
                <a:solidFill>
                  <a:srgbClr val="F9FA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9FAFB"/>
                </a:solidFill>
                <a:latin typeface="Arial"/>
                <a:ea typeface="Arial"/>
                <a:cs typeface="Arial"/>
              </a:rPr>
              <a:t>  --evidence-id inspection-product-a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9FAF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9FAFB"/>
                </a:solidFill>
                <a:latin typeface="Arial"/>
                <a:ea typeface="Arial"/>
                <a:cs typeface="Arial"/>
              </a:rPr>
              <a:t>open http://127.0.0.1:7080/</a:t>
            </a:r>
          </a:p>
        </p:txBody>
      </p:sp>
      <p:sp>
        <p:nvSpPr>
          <p:cNvPr id="9" name="demo-pages">
            <a:extLst xmlns:a="http://schemas.openxmlformats.org/drawingml/2006/main">
              <a:ext uri="{FF2B5EF4-FFF2-40B4-BE49-F238E27FC236}">
                <a16:creationId xmlns:a16="http://schemas.microsoft.com/office/drawing/2014/main" id="{37C04B19-155D-420C-9113-B0804B40A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429250"/>
            <a:ext cx="5981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Nodes: :7070 • :7071 • :7072    Evidence UI: :7080</a:t>
            </a:r>
          </a:p>
        </p:txBody>
      </p:sp>
    </p:spTree>
    <p:extLst>
      <p:ext uri="{BB962C8B-B14F-4D97-AF65-F5344CB8AC3E}">
        <p14:creationId xmlns:p14="http://schemas.microsoft.com/office/powerpoint/2010/main" val="102512955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6F83BC4F-1A11-4022-BB04-48C76480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333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THE TAKEAWAY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70364FA9-EF99-4BB8-B0C4-7436DB97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33550"/>
            <a:ext cx="7239000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>
            <a:normAutofit fontScale="93809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Shared decisions become</a:t>
            </a:r>
          </a:p>
          <a:p xmlns:a="http://schemas.openxmlformats.org/drawingml/2006/main">
            <a:pPr algn="l">
              <a:defRPr sz="5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portable evidence</a:t>
            </a:r>
          </a:p>
        </p:txBody>
      </p:sp>
      <p:sp>
        <p:nvSpPr>
          <p:cNvPr id="3" name="close-lines">
            <a:extLst xmlns:a="http://schemas.openxmlformats.org/drawingml/2006/main">
              <a:ext uri="{FF2B5EF4-FFF2-40B4-BE49-F238E27FC236}">
                <a16:creationId xmlns:a16="http://schemas.microsoft.com/office/drawing/2014/main" id="{3602BBC6-521F-4D6E-A433-794EF623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14900"/>
            <a:ext cx="6286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26B7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6B77"/>
                </a:solidFill>
                <a:latin typeface="Arial"/>
                <a:ea typeface="Arial"/>
                <a:cs typeface="Arial"/>
              </a:rPr>
              <a:t>Agree deterministically</a:t>
            </a:r>
          </a:p>
          <a:p xmlns:a="http://schemas.openxmlformats.org/drawingml/2006/main">
            <a:pPr algn="l">
              <a:defRPr sz="2100" b="0">
                <a:solidFill>
                  <a:srgbClr val="626B7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6B77"/>
                </a:solidFill>
                <a:latin typeface="Arial"/>
                <a:ea typeface="Arial"/>
                <a:cs typeface="Arial"/>
              </a:rPr>
              <a:t>Act externally with controlled effects</a:t>
            </a:r>
          </a:p>
          <a:p xmlns:a="http://schemas.openxmlformats.org/drawingml/2006/main">
            <a:pPr algn="l">
              <a:defRPr sz="2100" b="0">
                <a:solidFill>
                  <a:srgbClr val="626B77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6B77"/>
                </a:solidFill>
                <a:latin typeface="Arial"/>
                <a:ea typeface="Arial"/>
                <a:cs typeface="Arial"/>
              </a:rPr>
              <a:t>Verify independently and anchor compactly</a:t>
            </a:r>
          </a:p>
        </p:txBody>
      </p:sp>
      <p:sp>
        <p:nvSpPr>
          <p:cNvPr id="4" name="close-accent">
            <a:extLst xmlns:a="http://schemas.openxmlformats.org/drawingml/2006/main">
              <a:ext uri="{FF2B5EF4-FFF2-40B4-BE49-F238E27FC236}">
                <a16:creationId xmlns:a16="http://schemas.microsoft.com/office/drawing/2014/main" id="{30BB69E4-8900-4118-A7DF-C7397D4B0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57350"/>
            <a:ext cx="31242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ose-question">
            <a:extLst xmlns:a="http://schemas.openxmlformats.org/drawingml/2006/main">
              <a:ext uri="{FF2B5EF4-FFF2-40B4-BE49-F238E27FC236}">
                <a16:creationId xmlns:a16="http://schemas.microsoft.com/office/drawing/2014/main" id="{C193E33F-EA00-4F91-A1C9-CB49F1041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24100"/>
            <a:ext cx="259080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evidence must your participants agree on—and what should happen after finality?</a:t>
            </a:r>
          </a:p>
        </p:txBody>
      </p:sp>
    </p:spTree>
    <p:extLst>
      <p:ext uri="{BB962C8B-B14F-4D97-AF65-F5344CB8AC3E}">
        <p14:creationId xmlns:p14="http://schemas.microsoft.com/office/powerpoint/2010/main" val="13425119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2026-07-18T10:35:43.2370000Z</dcterms:created>
  <dcterms:modified xsi:type="dcterms:W3CDTF">2026-07-18T10:35:43.2370000Z</dcterms:modified>
</coreProperties>
</file>