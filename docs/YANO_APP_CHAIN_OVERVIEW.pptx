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157a8e0b2a4bdd" /><Relationship Type="http://schemas.openxmlformats.org/officeDocument/2006/relationships/extended-properties" Target="/docProps/app.xml" Id="R8de7cedfbde04850" /><Relationship Type="http://schemas.openxmlformats.org/officeDocument/2006/relationships/officeDocument" Target="/ppt/presentation.xml" Id="R71c384f91b3448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0e94d4fb134b3a"/>
  </p:sldMasterIdLst>
  <p:notesMasterIdLst>
    <p:notesMasterId xmlns:r="http://schemas.openxmlformats.org/officeDocument/2006/relationships" r:id="Rde873ff7a83b44cc"/>
  </p:notesMasterIdLst>
  <p:sldIdLst>
    <p:sldId xmlns:r="http://schemas.openxmlformats.org/officeDocument/2006/relationships" id="256" r:id="R5ee8ecd474e84000"/>
    <p:sldId xmlns:r="http://schemas.openxmlformats.org/officeDocument/2006/relationships" id="257" r:id="R25e7bc387a2f4fc1"/>
    <p:sldId xmlns:r="http://schemas.openxmlformats.org/officeDocument/2006/relationships" id="258" r:id="Rfda31ccd2b2d4813"/>
    <p:sldId xmlns:r="http://schemas.openxmlformats.org/officeDocument/2006/relationships" id="259" r:id="Rcf4d8f0c549146a1"/>
    <p:sldId xmlns:r="http://schemas.openxmlformats.org/officeDocument/2006/relationships" id="260" r:id="R48eaae71b5bb4ab4"/>
    <p:sldId xmlns:r="http://schemas.openxmlformats.org/officeDocument/2006/relationships" id="261" r:id="R278976a8cc174d27"/>
    <p:sldId xmlns:r="http://schemas.openxmlformats.org/officeDocument/2006/relationships" id="262" r:id="Ree21004586b3467a"/>
    <p:sldId xmlns:r="http://schemas.openxmlformats.org/officeDocument/2006/relationships" id="263" r:id="R90a9574d73eb4b9a"/>
    <p:sldId xmlns:r="http://schemas.openxmlformats.org/officeDocument/2006/relationships" id="264" r:id="R49237f21d5944359"/>
    <p:sldId xmlns:r="http://schemas.openxmlformats.org/officeDocument/2006/relationships" id="265" r:id="R792284b0008a4a2c"/>
    <p:sldId xmlns:r="http://schemas.openxmlformats.org/officeDocument/2006/relationships" id="266" r:id="Rea1c0f7a6c7b4def"/>
    <p:sldId xmlns:r="http://schemas.openxmlformats.org/officeDocument/2006/relationships" id="267" r:id="R75335365d6594ede"/>
    <p:sldId xmlns:r="http://schemas.openxmlformats.org/officeDocument/2006/relationships" id="268" r:id="Rb290eb6fbe2144a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82330c353240b2" /><Relationship Type="http://schemas.openxmlformats.org/officeDocument/2006/relationships/slideMaster" Target="/ppt/slideMasters/slideMaster1.xml" Id="Ref0e94d4fb134b3a" /><Relationship Type="http://schemas.openxmlformats.org/officeDocument/2006/relationships/notesMaster" Target="/ppt/notesMasters/notesMaster1.xml" Id="Rde873ff7a83b44cc" /><Relationship Type="http://schemas.openxmlformats.org/officeDocument/2006/relationships/presProps" Target="/ppt/presProps.xml" Id="R3790edecfea84c46" /><Relationship Type="http://schemas.openxmlformats.org/officeDocument/2006/relationships/tableStyles" Target="/ppt/tableStyles.xml" Id="Ra83abc9530d741aa" /><Relationship Type="http://schemas.openxmlformats.org/officeDocument/2006/relationships/slide" Target="/ppt/slides/slide1.xml" Id="R5ee8ecd474e84000" /><Relationship Type="http://schemas.openxmlformats.org/officeDocument/2006/relationships/slide" Target="/ppt/slides/slide2.xml" Id="R25e7bc387a2f4fc1" /><Relationship Type="http://schemas.openxmlformats.org/officeDocument/2006/relationships/slide" Target="/ppt/slides/slide3.xml" Id="Rfda31ccd2b2d4813" /><Relationship Type="http://schemas.openxmlformats.org/officeDocument/2006/relationships/slide" Target="/ppt/slides/slide4.xml" Id="Rcf4d8f0c549146a1" /><Relationship Type="http://schemas.openxmlformats.org/officeDocument/2006/relationships/slide" Target="/ppt/slides/slide5.xml" Id="R48eaae71b5bb4ab4" /><Relationship Type="http://schemas.openxmlformats.org/officeDocument/2006/relationships/slide" Target="/ppt/slides/slide6.xml" Id="R278976a8cc174d27" /><Relationship Type="http://schemas.openxmlformats.org/officeDocument/2006/relationships/slide" Target="/ppt/slides/slide7.xml" Id="Ree21004586b3467a" /><Relationship Type="http://schemas.openxmlformats.org/officeDocument/2006/relationships/slide" Target="/ppt/slides/slide8.xml" Id="R90a9574d73eb4b9a" /><Relationship Type="http://schemas.openxmlformats.org/officeDocument/2006/relationships/slide" Target="/ppt/slides/slide9.xml" Id="R49237f21d5944359" /><Relationship Type="http://schemas.openxmlformats.org/officeDocument/2006/relationships/slide" Target="/ppt/slides/slide10.xml" Id="R792284b0008a4a2c" /><Relationship Type="http://schemas.openxmlformats.org/officeDocument/2006/relationships/slide" Target="/ppt/slides/slide11.xml" Id="Rea1c0f7a6c7b4def" /><Relationship Type="http://schemas.openxmlformats.org/officeDocument/2006/relationships/slide" Target="/ppt/slides/slide12.xml" Id="R75335365d6594ede" /><Relationship Type="http://schemas.openxmlformats.org/officeDocument/2006/relationships/slide" Target="/ppt/slides/slide13.xml" Id="Rb290eb6fbe2144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7a96f4d21546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ba6eacc40c45a9" /><Relationship Type="http://schemas.openxmlformats.org/officeDocument/2006/relationships/notesMaster" Target="/ppt/notesMasters/notesMaster1.xml" Id="R4b9e7d276c1c49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1b5b0c511d4d30" /><Relationship Type="http://schemas.openxmlformats.org/officeDocument/2006/relationships/notesMaster" Target="/ppt/notesMasters/notesMaster1.xml" Id="Rd08d324fef4b4f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9ad8e13f4f4e5b" /><Relationship Type="http://schemas.openxmlformats.org/officeDocument/2006/relationships/notesMaster" Target="/ppt/notesMasters/notesMaster1.xml" Id="Rf7111b02848246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644e798c7c4e19" /><Relationship Type="http://schemas.openxmlformats.org/officeDocument/2006/relationships/notesMaster" Target="/ppt/notesMasters/notesMaster1.xml" Id="R7e05921c4d0a45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833a5e7dbb4e18" /><Relationship Type="http://schemas.openxmlformats.org/officeDocument/2006/relationships/notesMaster" Target="/ppt/notesMasters/notesMaster1.xml" Id="R4cd6cb6d37374a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76c4aa599d4438" /><Relationship Type="http://schemas.openxmlformats.org/officeDocument/2006/relationships/notesMaster" Target="/ppt/notesMasters/notesMaster1.xml" Id="Rdf1d729dca4841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1c9e0463484b4d" /><Relationship Type="http://schemas.openxmlformats.org/officeDocument/2006/relationships/notesMaster" Target="/ppt/notesMasters/notesMaster1.xml" Id="R2c6cb28b603a41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446802d28940d9" /><Relationship Type="http://schemas.openxmlformats.org/officeDocument/2006/relationships/notesMaster" Target="/ppt/notesMasters/notesMaster1.xml" Id="Rfc29142ac9f143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dea8203a5f4220" /><Relationship Type="http://schemas.openxmlformats.org/officeDocument/2006/relationships/notesMaster" Target="/ppt/notesMasters/notesMaster1.xml" Id="R36d66471350a4c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349e2cfa7544f5" /><Relationship Type="http://schemas.openxmlformats.org/officeDocument/2006/relationships/notesMaster" Target="/ppt/notesMasters/notesMaster1.xml" Id="R59649e9d39d54e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bb2ee997a64316" /><Relationship Type="http://schemas.openxmlformats.org/officeDocument/2006/relationships/notesMaster" Target="/ppt/notesMasters/notesMaster1.xml" Id="Rca10adf2eb4246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d3d3ca915d4196" /><Relationship Type="http://schemas.openxmlformats.org/officeDocument/2006/relationships/notesMaster" Target="/ppt/notesMasters/notesMaster1.xml" Id="R5ff87e3e9847481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75aff2f5ab4a53" /><Relationship Type="http://schemas.openxmlformats.org/officeDocument/2006/relationships/notesMaster" Target="/ppt/notesMasters/notesMaster1.xml" Id="R56d3b46d77a24e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9fef985efe4c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35817eb59c4926" /><Relationship Type="http://schemas.openxmlformats.org/officeDocument/2006/relationships/slideLayout" Target="/ppt/slideLayouts/slideLayout1.xml" Id="Rb214ac8328764a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14ac8328764a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6c88f53874e7a" /><Relationship Type="http://schemas.openxmlformats.org/officeDocument/2006/relationships/image" Target="/ppt/media/image.png" Id="R01638cee6d6742ac" /><Relationship Type="http://schemas.openxmlformats.org/officeDocument/2006/relationships/notesSlide" Target="/ppt/notesSlides/notesSlide1.xml" Id="Ra125991213114b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60466966c4257" /><Relationship Type="http://schemas.openxmlformats.org/officeDocument/2006/relationships/notesSlide" Target="/ppt/notesSlides/notesSlide2.xml" Id="Re64111d128a440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d94d9c9ad45c8" /><Relationship Type="http://schemas.openxmlformats.org/officeDocument/2006/relationships/notesSlide" Target="/ppt/notesSlides/notesSlide3.xml" Id="R9ce075e0046942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b65fea0f44514" /><Relationship Type="http://schemas.openxmlformats.org/officeDocument/2006/relationships/notesSlide" Target="/ppt/notesSlides/notesSlide4.xml" Id="Rdc6c0ca6bdeb48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2fcdf8cdc400e" /><Relationship Type="http://schemas.openxmlformats.org/officeDocument/2006/relationships/notesSlide" Target="/ppt/notesSlides/notesSlide5.xml" Id="Rd9ef17b24c974e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e0cfedd144568" /><Relationship Type="http://schemas.openxmlformats.org/officeDocument/2006/relationships/notesSlide" Target="/ppt/notesSlides/notesSlide6.xml" Id="R0d99a27f17d341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1875f298c4458" /><Relationship Type="http://schemas.openxmlformats.org/officeDocument/2006/relationships/notesSlide" Target="/ppt/notesSlides/notesSlide7.xml" Id="R1170b810babd4b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c7042293c4e25" /><Relationship Type="http://schemas.openxmlformats.org/officeDocument/2006/relationships/notesSlide" Target="/ppt/notesSlides/notesSlide8.xml" Id="R550ec70fb5f24c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19a0368c144e5" /><Relationship Type="http://schemas.openxmlformats.org/officeDocument/2006/relationships/notesSlide" Target="/ppt/notesSlides/notesSlide9.xml" Id="R8bb1bd4eb8ee4c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2c7a3407e44fd" /><Relationship Type="http://schemas.openxmlformats.org/officeDocument/2006/relationships/notesSlide" Target="/ppt/notesSlides/notesSlide10.xml" Id="Rf3da5498dd094c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2c4481f064459" /><Relationship Type="http://schemas.openxmlformats.org/officeDocument/2006/relationships/notesSlide" Target="/ppt/notesSlides/notesSlide11.xml" Id="R43a1844224744c7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09d9836e84c78" /><Relationship Type="http://schemas.openxmlformats.org/officeDocument/2006/relationships/notesSlide" Target="/ppt/notesSlides/notesSlide12.xml" Id="Rb6d358c515f9478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03b41064b491c" /><Relationship Type="http://schemas.openxmlformats.org/officeDocument/2006/relationships/notesSlide" Target="/ppt/notesSlides/notesSlide13.xml" Id="Re373e0e832ae48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379F87-4A1E-4DE5-B6BE-27995688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1F66E-CBB4-45EE-B6D4-188D4B79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YANO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9616ED1-2EB5-45FE-B30E-6A0C2F14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666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 chains that turn shared decisions into provable action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62B9D-7273-4BC9-82C6-A583F705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Deterministic state • threshold finality • proofs • Cardano anchoring • controlled external effects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2DA01-CA68-4E0A-9EFC-8EDC9F08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626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A80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A808F"/>
                </a:solidFill>
                <a:latin typeface="Helvetica Neue"/>
                <a:ea typeface="Helvetica Neue"/>
                <a:cs typeface="Helvetica Neue"/>
              </a:rPr>
              <a:t>A 10–15 minute overview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638cee6d6742ac"/>
          <a:stretch xmlns:a="http://schemas.openxmlformats.org/drawingml/2006/main"/>
        </p:blipFill>
        <p:spPr>
          <a:xfrm xmlns:a="http://schemas.openxmlformats.org/drawingml/2006/main">
            <a:off x="7858125" y="133350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8A7ED-9E05-483F-99C6-0DFEAFF4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43500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B2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B2BFF"/>
                </a:solidFill>
                <a:latin typeface="Helvetica Neue"/>
                <a:ea typeface="Helvetica Neue"/>
                <a:cs typeface="Helvetica Neue"/>
              </a:rPr>
              <a:t>PRE-RELEASE</a:t>
            </a:r>
          </a:p>
        </p:txBody>
      </p:sp>
    </p:spTree>
    <p:extLst>
      <p:ext uri="{BB962C8B-B14F-4D97-AF65-F5344CB8AC3E}">
        <p14:creationId xmlns:p14="http://schemas.microsoft.com/office/powerpoint/2010/main" val="20936292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-2">
            <a:extLst xmlns:a="http://schemas.openxmlformats.org/drawingml/2006/main">
              <a:ext uri="{FF2B5EF4-FFF2-40B4-BE49-F238E27FC236}">
                <a16:creationId xmlns:a16="http://schemas.microsoft.com/office/drawing/2014/main" id="{2B330BE6-4367-4C77-9CEE-0C9348A0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Shared workflows fail when one party controls history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0892305C-A75F-4CA0-853A-183CAC1B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9B354-E220-4480-9347-7449BA79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800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rPr>
              <a:t>The hard problem is shared governance—not another database.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1685925" y="2543175"/>
            <a:ext cx="171450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29" name=""/>
          <p:cNvCxnSpPr/>
          <p:nvPr/>
        </p:nvCxnSpPr>
        <p:spPr>
          <a:xfrm xmlns:a="http://schemas.openxmlformats.org/drawingml/2006/main">
            <a:off x="1685925" y="3448050"/>
            <a:ext cx="171450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0" name=""/>
          <p:cNvCxnSpPr/>
          <p:nvPr/>
        </p:nvCxnSpPr>
        <p:spPr>
          <a:xfrm xmlns:a="http://schemas.openxmlformats.org/drawingml/2006/main">
            <a:off x="1685925" y="3267075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943231-EF68-4B6C-A7CA-19A32E955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43125"/>
            <a:ext cx="142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B9DAD-5659-4A35-A85C-83C19225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Partner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15C4F-5ECB-465A-9F51-CF59F4C2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24175"/>
            <a:ext cx="142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414D7-5571-421A-A3F6-8C6CCC61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Partner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E95E15-9298-4C19-9758-E51458F7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05225"/>
            <a:ext cx="142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AA92E7-EEAB-4DA9-9E2E-44DF4896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120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Partner 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030CE3-50F4-427F-A983-C47797F3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19375"/>
            <a:ext cx="2190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E1230"/>
          </a:solidFill>
          <a:ln xmlns:a="http://schemas.openxmlformats.org/drawingml/2006/main" w="14288">
            <a:solidFill>
              <a:srgbClr val="0E123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24EDAE-F9EE-4618-8B7A-57F9048E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95575"/>
            <a:ext cx="19621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shared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database / broker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4515EF-102E-43AE-B327-C77F7B85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2481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3B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3B8A"/>
                </a:solidFill>
                <a:latin typeface="Helvetica Neue"/>
                <a:ea typeface="Helvetica Neue"/>
                <a:cs typeface="Helvetica Neue"/>
              </a:rPr>
              <a:t>Who can rewrite, stop, or reinterpret the process?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4095F5-67C2-4F2E-86A8-237ECBA6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What breaks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A65691-5C8A-47D9-9294-675CA2B4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479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8A"/>
          </a:solidFill>
          <a:ln xmlns:a="http://schemas.openxmlformats.org/drawingml/2006/main" w="19050">
            <a:solidFill>
              <a:srgbClr val="FF3B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6A835A-6953-477C-B255-2CAB432D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400300"/>
            <a:ext cx="42195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Participants reconcile separate histories after the fact.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B272D3-46CB-45EB-B0A0-9AED732D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337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8A"/>
          </a:solidFill>
          <a:ln xmlns:a="http://schemas.openxmlformats.org/drawingml/2006/main" w="19050">
            <a:solidFill>
              <a:srgbClr val="FF3B8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BD0B2F-A513-4CE2-B82D-E8AF2DC0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086100"/>
            <a:ext cx="42195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One operator controls ordering, availability, and access.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237D9C-504C-421C-BAAF-89255422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95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8A"/>
          </a:solidFill>
          <a:ln xmlns:a="http://schemas.openxmlformats.org/drawingml/2006/main" w="19050">
            <a:solidFill>
              <a:srgbClr val="FF3B8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BA9348-8323-4B9E-A2DD-E09C9219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771900"/>
            <a:ext cx="42195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External actions are weakly tied to the shared decision.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2B3811-B852-4FAA-BA76-730A02DC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053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8A"/>
          </a:solidFill>
          <a:ln xmlns:a="http://schemas.openxmlformats.org/drawingml/2006/main" w="19050">
            <a:solidFill>
              <a:srgbClr val="FF3B8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3A6EFA-3449-4350-95E8-E42D5808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457700"/>
            <a:ext cx="42195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Public-chain execution is often too costly or inflexible for every event.</a:t>
            </a:r>
          </a:p>
        </p:txBody>
      </p:sp>
    </p:spTree>
    <p:extLst>
      <p:ext uri="{BB962C8B-B14F-4D97-AF65-F5344CB8AC3E}">
        <p14:creationId xmlns:p14="http://schemas.microsoft.com/office/powerpoint/2010/main" val="13612253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itle-3">
            <a:extLst xmlns:a="http://schemas.openxmlformats.org/drawingml/2006/main">
              <a:ext uri="{FF2B5EF4-FFF2-40B4-BE49-F238E27FC236}">
                <a16:creationId xmlns:a16="http://schemas.microsoft.com/office/drawing/2014/main" id="{E526AE78-462A-4909-A681-0501167A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 app chain turns shared decisions into verifiable state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6B4E0C28-0D7F-4500-A8DC-ACEA9DFF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1AAB7-883F-4172-87A8-C5041FC4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800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rPr>
              <a:t>Application-specific consensus anchored to Cardano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1952625" y="3333750"/>
            <a:ext cx="1571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7524750" y="33337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3" name=""/>
          <p:cNvCxnSpPr/>
          <p:nvPr/>
        </p:nvCxnSpPr>
        <p:spPr>
          <a:xfrm xmlns:a="http://schemas.openxmlformats.org/drawingml/2006/main">
            <a:off x="5476875" y="4762500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4" name=""/>
          <p:cNvCxnSpPr/>
          <p:nvPr/>
        </p:nvCxnSpPr>
        <p:spPr>
          <a:xfrm xmlns:a="http://schemas.openxmlformats.org/drawingml/2006/main">
            <a:off x="4486275" y="2638425"/>
            <a:ext cx="981075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5" name=""/>
          <p:cNvCxnSpPr/>
          <p:nvPr/>
        </p:nvCxnSpPr>
        <p:spPr>
          <a:xfrm xmlns:a="http://schemas.openxmlformats.org/drawingml/2006/main">
            <a:off x="5476875" y="2638425"/>
            <a:ext cx="981075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>
            <a:off x="4486275" y="3333750"/>
            <a:ext cx="981075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E9CA5-238B-4A58-8F0B-95ADD02E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81250"/>
            <a:ext cx="1476375" cy="190500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32ACB8-B49C-48C7-B32D-869858B5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12477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Clients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Signed messages</a:t>
            </a:r>
          </a:p>
          <a:p xmlns:a="http://schemas.openxmlformats.org/drawingml/2006/main">
            <a:pPr algn="ctr">
              <a:defRPr sz="15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Queries</a:t>
            </a:r>
          </a:p>
          <a:p xmlns:a="http://schemas.openxmlformats.org/drawingml/2006/main">
            <a:pPr algn="ctr">
              <a:defRPr sz="15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Proof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72299F-E613-459C-9206-57A0CE61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66875"/>
            <a:ext cx="4000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19050">
            <a:solidFill>
              <a:srgbClr val="6DCBF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D95B2-973F-4F73-B835-69A67E26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669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Yano app-chain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396DD5-AF05-4616-96B6-49C1D566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3812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12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D1E0B5-4F83-4024-AF77-338D8960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812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123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E7ED85-2231-4AF5-9433-45507EE2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9243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123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D986FA-7906-4F88-947C-26D48157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71775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Member 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9A46E4-A7D7-4F3D-9667-BE0801B1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771775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Member 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FB4518-5F96-49C7-A760-FB9DC0ED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4825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Member 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6FAB26-506C-4661-87CE-48501FDF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0375"/>
            <a:ext cx="1047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616DCF-8D40-4FD8-B596-3F6CE744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76575"/>
            <a:ext cx="819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State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root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B0A679-FA42-40D4-8F81-E6DD2427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33362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098B20-4B88-4849-8AB8-E4F58E4B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66950"/>
            <a:ext cx="2105025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External systems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Kafka</a:t>
            </a:r>
          </a:p>
          <a:p xmlns:a="http://schemas.openxmlformats.org/drawingml/2006/main">
            <a:pPr algn="ctr">
              <a:defRPr sz="15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Object storage</a:t>
            </a:r>
          </a:p>
          <a:p xmlns:a="http://schemas.openxmlformats.org/drawingml/2006/main">
            <a:pPr algn="ctr">
              <a:defRPr sz="15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IPFS</a:t>
            </a:r>
          </a:p>
          <a:p xmlns:a="http://schemas.openxmlformats.org/drawingml/2006/main">
            <a:pPr algn="ctr">
              <a:defRPr sz="15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ERP / webhooks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AF9521-505A-4BA8-99E9-B8B02B08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572125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E1230"/>
          </a:solidFill>
          <a:ln xmlns:a="http://schemas.openxmlformats.org/drawingml/2006/main" w="14288">
            <a:solidFill>
              <a:srgbClr val="0E123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E9188F-AD98-4723-B6D9-0A0190F4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648325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Cardano anchor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94A93F-CA20-4E37-A3BA-098FF175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0003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0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Finality + effects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C23BEA-D12A-4E97-BA31-C6068E10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143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Certified root</a:t>
            </a:r>
          </a:p>
        </p:txBody>
      </p:sp>
    </p:spTree>
    <p:extLst>
      <p:ext uri="{BB962C8B-B14F-4D97-AF65-F5344CB8AC3E}">
        <p14:creationId xmlns:p14="http://schemas.microsoft.com/office/powerpoint/2010/main" val="2417488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itle-4">
            <a:extLst xmlns:a="http://schemas.openxmlformats.org/drawingml/2006/main">
              <a:ext uri="{FF2B5EF4-FFF2-40B4-BE49-F238E27FC236}">
                <a16:creationId xmlns:a16="http://schemas.microsoft.com/office/drawing/2014/main" id="{6B0A01C0-A730-4790-AEEC-2F724152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message becomes final, provable, actionable and anchored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7F85347A-F12A-4C63-B513-303ECA63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9CE51F-4B31-45FD-AE2D-09F5CE51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800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rPr>
              <a:t>Every stage has a distinct responsibility and evidence boundary.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45409-CACC-4DB1-AB85-4BAA9CA3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371850"/>
            <a:ext cx="209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80F76-4980-4A71-92FD-8BD5D6C2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371850"/>
            <a:ext cx="209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EB4D9-B45D-4581-BC93-D1FFB79A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371850"/>
            <a:ext cx="209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F2205D-7CAD-487F-8A33-B8ADECC7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71850"/>
            <a:ext cx="209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3259E-1DF5-4548-B6D1-A78F1CC9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371850"/>
            <a:ext cx="2095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3B376-223B-4635-BA40-7A7D5B52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400050" y="2428875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3D3EA2-1CDF-4ADA-87EA-11802CF3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Submit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308007-0388-432E-89FA-241EAC7E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86125"/>
            <a:ext cx="171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A member signs an application message.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B38BB-F838-47C1-B453-12302C9C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9050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2362200" y="2428875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1057B9-2D4F-480E-9FB5-B0E2EB21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241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Order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2140F5-45E5-44F7-9460-A0A9163D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86125"/>
            <a:ext cx="171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The proposer batches accepted messages.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0E1995-9D25-45A9-8A41-3B52AB4A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050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4324350" y="2428875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F86B38-8450-48E3-94D1-D688CF85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241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Re-execute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AF6908-843E-42B3-AB28-54B27298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86125"/>
            <a:ext cx="171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Every member derives the same state root.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C14EB1-AE23-4ABC-ADFA-F5CCBCDA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6286500" y="2428875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6BEA87-819C-4D2E-A3A2-7E36BF88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Finalize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A01FB9-1B93-4032-8D31-5521A9D9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171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The threshold signs the app block.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F0AE7C-A437-468A-9B3D-E4203CD6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050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cxnSp>
        <p:nvCxnSpPr>
          <p:cNvPr id="60" name=""/>
          <p:cNvCxnSpPr/>
          <p:nvPr/>
        </p:nvCxnSpPr>
        <p:spPr>
          <a:xfrm xmlns:a="http://schemas.openxmlformats.org/drawingml/2006/main">
            <a:off x="8248650" y="2428875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5B2BFF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4FCA10-32A3-4E1E-8D49-A348C02F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241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Act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000E27-7DF7-4314-BD8F-C7D1BDEC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86125"/>
            <a:ext cx="171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Eligible effects run outside consensus.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935000-D3F7-4E1A-B82F-DC1F9C2D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9050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10210800" y="2428875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5B2BFF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8A56A0-06CA-440D-BA56-09CA995C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7241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Prove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DFA92A-1086-47BD-8743-FD4E4CB6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286125"/>
            <a:ext cx="1714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Results and the root can be verified and anchored.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E2FC35-2D31-4624-A8AB-20BB84A7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81575"/>
            <a:ext cx="11391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E1230"/>
          </a:solidFill>
          <a:ln xmlns:a="http://schemas.openxmlformats.org/drawingml/2006/main" w="9525">
            <a:solidFill>
              <a:srgbClr val="0E123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C72936-01BB-4831-A268-3DDABBC9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6786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proposer orders. Members verify. The state machine decides. Executors act. Cardano anchors.</a:t>
            </a:r>
          </a:p>
        </p:txBody>
      </p:sp>
    </p:spTree>
    <p:extLst>
      <p:ext uri="{BB962C8B-B14F-4D97-AF65-F5344CB8AC3E}">
        <p14:creationId xmlns:p14="http://schemas.microsoft.com/office/powerpoint/2010/main" val="15157609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-5">
            <a:extLst xmlns:a="http://schemas.openxmlformats.org/drawingml/2006/main">
              <a:ext uri="{FF2B5EF4-FFF2-40B4-BE49-F238E27FC236}">
                <a16:creationId xmlns:a16="http://schemas.microsoft.com/office/drawing/2014/main" id="{5AF95192-6597-4584-9690-F52828BA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Deterministic consensus. Safe integrations.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F9783881-53BD-4860-908E-EB2C6D50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F59C0F-5E58-4E11-A9FB-F25C1DE6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800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rPr>
              <a:t>Intent is consensus data; execution is recoverable operational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2F7F5-771C-4802-A141-92FC8AC0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4953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89B8C-6255-44A6-8FFB-BC3CAD91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14500"/>
            <a:ext cx="4953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19050">
            <a:solidFill>
              <a:srgbClr val="5156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5F0FB3-8F71-402B-86F8-56D70AA9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CONSENSUS PLANE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A20DA2-E760-434C-849F-042AC76D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Identical on every member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71EAB-265A-4103-BE4E-139B262D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7E8113-ECB5-43F1-9C7D-277F35F4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43250"/>
            <a:ext cx="3838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Validate signed messages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1FC6E1-BE5E-4FAE-B7DA-9FC20FBB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0883A-5761-4B74-8629-D7AF236F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638550"/>
            <a:ext cx="3838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Apply deterministic state transitions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2C1BD9-2918-4820-9AA0-DF058715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2D52AC-0D33-4B2F-B246-D8927415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33850"/>
            <a:ext cx="3838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Emit immutable effect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4548E9-09AF-40B2-A4EA-4B0F3485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6982EB-5E9B-4E94-9A7C-464AAFDB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629150"/>
            <a:ext cx="3838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Commit state and effects under one root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519D59-7081-4F16-834F-021D63F9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81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2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2BFF"/>
                </a:solidFill>
                <a:latin typeface="Helvetica Neue"/>
                <a:ea typeface="Helvetica Neue"/>
                <a:cs typeface="Helvetica Neue"/>
              </a:rPr>
              <a:t>EXECUTION PLANE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DA260F-D38D-4961-9C57-91687C36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003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584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Runs on a designated executor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C0C7C1-6AB0-4DFB-989E-3085C66E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908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2BFF"/>
          </a:solidFill>
          <a:ln xmlns:a="http://schemas.openxmlformats.org/drawingml/2006/main" w="19050">
            <a:solidFill>
              <a:srgbClr val="5B2B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742D06-E99A-42C2-A153-1A43C79D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143250"/>
            <a:ext cx="3838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Wait for the configured finality 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CC0AE8-3CDB-402B-9EEB-5BFD9302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861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2BFF"/>
          </a:solidFill>
          <a:ln xmlns:a="http://schemas.openxmlformats.org/drawingml/2006/main" w="19050">
            <a:solidFill>
              <a:srgbClr val="5B2B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D29B6C-4ADE-456F-8801-DDEDE09C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638550"/>
            <a:ext cx="3838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Call Kafka, S3, IPFS, Cardano or ERP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2B583D-D2A1-497B-B782-D4500C9E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814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2BFF"/>
          </a:solidFill>
          <a:ln xmlns:a="http://schemas.openxmlformats.org/drawingml/2006/main" w="19050">
            <a:solidFill>
              <a:srgbClr val="5B2B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53ED98-ED5A-47F4-B45B-951964BD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133850"/>
            <a:ext cx="3838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Retry and reconcile ambiguous outcomes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5AF8AD-2CB8-46DC-9420-15C6A994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767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2BFF"/>
          </a:solidFill>
          <a:ln xmlns:a="http://schemas.openxmlformats.org/drawingml/2006/main" w="19050">
            <a:solidFill>
              <a:srgbClr val="5B2B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44DD9E-9598-4EDF-A1E3-C03E0534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29150"/>
            <a:ext cx="3838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Return a signed receipt or terminal result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060797-9168-4418-BD72-52EAE301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71825"/>
            <a:ext cx="10477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E1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8F9FF5-93A8-4806-9F84-7FB1BA8C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385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Effect</a:t>
            </a:r>
          </a:p>
          <a:p xmlns:a="http://schemas.openxmlformats.org/drawingml/2006/main">
            <a:pPr algn="ctr">
              <a:defRPr sz="12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record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6DEFFD-BA4F-454D-BE3C-46DE59FD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581650"/>
            <a:ext cx="609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35043F-20A5-46E7-A1A1-E3B425C6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769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Exactly-once incorporation • At-least-once external execution</a:t>
            </a:r>
          </a:p>
        </p:txBody>
      </p:sp>
    </p:spTree>
    <p:extLst>
      <p:ext uri="{BB962C8B-B14F-4D97-AF65-F5344CB8AC3E}">
        <p14:creationId xmlns:p14="http://schemas.microsoft.com/office/powerpoint/2010/main" val="20347295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6">
            <a:extLst xmlns:a="http://schemas.openxmlformats.org/drawingml/2006/main">
              <a:ext uri="{FF2B5EF4-FFF2-40B4-BE49-F238E27FC236}">
                <a16:creationId xmlns:a16="http://schemas.microsoft.com/office/drawing/2014/main" id="{145F9CD7-8576-48AB-86E2-2B705B4C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Start with configuration; add code only for domain rules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D517D0F3-8AC4-46BC-BFA9-CE90A5FC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DFD42-0D72-4D49-8431-A9DDAF2A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800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rPr>
              <a:t>The same consensus, proof, anchoring and operations foundation serves every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3EF0C-5AEA-49BF-9ABC-3960F72D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60186-1330-415C-A0DE-CBE042E9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328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Configuration only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400050" y="285750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B0EBC-9CF7-41AA-A95A-F7FFE7B8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3238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ordered-log</a:t>
            </a:r>
          </a:p>
          <a:p xmlns:a="http://schemas.openxmlformats.org/drawingml/2006/main">
            <a:pPr algn="l">
              <a:defRPr sz="15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kv-registry</a:t>
            </a:r>
          </a:p>
          <a:p xmlns:a="http://schemas.openxmlformats.org/drawingml/2006/main">
            <a:pPr algn="l">
              <a:defRPr sz="15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approvals</a:t>
            </a:r>
          </a:p>
          <a:p xmlns:a="http://schemas.openxmlformats.org/drawingml/2006/main">
            <a:pPr algn="l">
              <a:defRPr sz="15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balances</a:t>
            </a:r>
          </a:p>
          <a:p xmlns:a="http://schemas.openxmlformats.org/drawingml/2006/main">
            <a:pPr algn="l">
              <a:defRPr sz="15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doc-trail</a:t>
            </a:r>
          </a:p>
          <a:p xmlns:a="http://schemas.openxmlformats.org/drawingml/2006/main">
            <a:pPr algn="l">
              <a:defRPr sz="15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composite / evidence-v1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B52EF-E67C-4A5B-99DC-0100B578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14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B2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5B2B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71BF3-5CF4-422A-9F88-49367FA6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238375"/>
            <a:ext cx="328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First-party bundles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4314825" y="285750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5B2BFF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B20A1-3A5F-4A43-801B-2647FF4E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43250"/>
            <a:ext cx="3238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kafka.publish</a:t>
            </a:r>
          </a:p>
          <a:p xmlns:a="http://schemas.openxmlformats.org/drawingml/2006/main">
            <a:pPr algn="l">
              <a:defRPr sz="15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object.put</a:t>
            </a:r>
          </a:p>
          <a:p xmlns:a="http://schemas.openxmlformats.org/drawingml/2006/main">
            <a:pPr algn="l">
              <a:defRPr sz="15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ipfs.pin</a:t>
            </a:r>
          </a:p>
          <a:p xmlns:a="http://schemas.openxmlformats.org/drawingml/2006/main">
            <a:pPr algn="l">
              <a:defRPr sz="15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webhook.post</a:t>
            </a:r>
          </a:p>
          <a:p xmlns:a="http://schemas.openxmlformats.org/drawingml/2006/main">
            <a:pPr algn="l">
              <a:defRPr sz="15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Cardano payment preview profile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F74142-7983-4B6F-BBAD-8BE5DA1E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6B687E-0345-416E-97FA-8C9C916F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38375"/>
            <a:ext cx="328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Custom manifested plugin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8229600" y="285750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1230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88F4D2-00A7-4B19-B512-8584EEC7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3238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Domain state machine</a:t>
            </a:r>
          </a:p>
          <a:p xmlns:a="http://schemas.openxmlformats.org/drawingml/2006/main">
            <a:pPr algn="l">
              <a:defRPr sz="15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Custom composite</a:t>
            </a:r>
          </a:p>
          <a:p xmlns:a="http://schemas.openxmlformats.org/drawingml/2006/main">
            <a:pPr algn="l">
              <a:defRPr sz="15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Effect executor or sink</a:t>
            </a:r>
          </a:p>
          <a:p xmlns:a="http://schemas.openxmlformats.org/drawingml/2006/main">
            <a:pPr algn="l">
              <a:defRPr sz="15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Domain API and query</a:t>
            </a:r>
          </a:p>
          <a:p xmlns:a="http://schemas.openxmlformats.org/drawingml/2006/main">
            <a:pPr algn="l">
              <a:defRPr sz="15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Health, metrics and operations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4B1986-24E0-4313-B245-35F66457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816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No application code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24FD64-53B6-447A-BD67-20B2A055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7816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2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B2BFF"/>
                </a:solidFill>
                <a:latin typeface="Helvetica Neue"/>
                <a:ea typeface="Helvetica Neue"/>
                <a:cs typeface="Helvetica Neue"/>
              </a:rPr>
              <a:t>Install + configure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D64FB1-8AD7-492D-AF27-BD87BA3B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78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Small Java assembly /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898251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7">
            <a:extLst xmlns:a="http://schemas.openxmlformats.org/drawingml/2006/main">
              <a:ext uri="{FF2B5EF4-FFF2-40B4-BE49-F238E27FC236}">
                <a16:creationId xmlns:a16="http://schemas.microsoft.com/office/drawing/2014/main" id="{F01BECDC-EE65-4240-BD69-73D28039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Plugins extend typed boundaries—not consensus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DDCEB2F7-547B-42B1-885D-AA9B25E6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2969A-9356-4CF0-B04D-F45C71E2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800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rPr>
              <a:t>JVM: drop-in bundle JAR • Native: include at build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9774B-D40F-4870-8D09-41CC019A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001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64E8B-0D56-45D4-8DF3-C0E327AF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716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DOMAIN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6C2F4-7051-4E49-A8D9-597570B4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33625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State machine  •  Composite profile  •  Domain API  •  Committed queries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8C4610-74CC-4EBF-974B-909323D8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00375"/>
            <a:ext cx="10001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19050">
            <a:solidFill>
              <a:srgbClr val="5B2B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6E982-0A5E-4F3A-B6D9-55A6D91A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62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2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B2BFF"/>
                </a:solidFill>
                <a:latin typeface="Helvetica Neue"/>
                <a:ea typeface="Helvetica Neue"/>
                <a:cs typeface="Helvetica Neue"/>
              </a:rPr>
              <a:t>INTEGRATIONS + OPERATIONS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1DA0AE-B26F-4503-92F9-0DB51400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242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Effect executors  •  Finalized sinks  •  Health  •  Metrics  •  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9B0F5B-5DAA-4302-949B-7F9C8C2B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33875"/>
            <a:ext cx="10953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0E1230"/>
          </a:solidFill>
          <a:ln xmlns:a="http://schemas.openxmlformats.org/drawingml/2006/main" w="9525">
            <a:solidFill>
              <a:srgbClr val="0E123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52AD49-F7F5-42EE-922F-B394736E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STABLE YANO FOUNDATION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75284C-B4E2-48AC-BCB9-9DE1AB46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5300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082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Signed messages  •  sequencing  •  threshold finality  •  state roots  •  proofs  •  catch-up  •  anchoring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C9B481-DC00-4617-A412-A662E806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8864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Manifest + API compatibility + dependency graph + policy + lifecycle</a:t>
            </a:r>
          </a:p>
        </p:txBody>
      </p:sp>
    </p:spTree>
    <p:extLst>
      <p:ext uri="{BB962C8B-B14F-4D97-AF65-F5344CB8AC3E}">
        <p14:creationId xmlns:p14="http://schemas.microsoft.com/office/powerpoint/2010/main" val="20468431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itle-8">
            <a:extLst xmlns:a="http://schemas.openxmlformats.org/drawingml/2006/main">
              <a:ext uri="{FF2B5EF4-FFF2-40B4-BE49-F238E27FC236}">
                <a16:creationId xmlns:a16="http://schemas.microsoft.com/office/drawing/2014/main" id="{1872DE0C-C3F6-49D4-B2E6-4D17C47F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Several capabilities can share one atomic app-chain root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EE03C9E4-0C56-441D-A65A-215F8C87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837B5-8C5D-417D-AFD9-26CA3227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800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rPr>
              <a:t>Order, routes, namespaces, versions, activations and quotas are consensus data.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6096000" y="2428875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9" name=""/>
          <p:cNvCxnSpPr/>
          <p:nvPr/>
        </p:nvCxnSpPr>
        <p:spPr>
          <a:xfrm xmlns:a="http://schemas.openxmlformats.org/drawingml/2006/main">
            <a:off x="1695450" y="2952750"/>
            <a:ext cx="7543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0" name=""/>
          <p:cNvCxnSpPr/>
          <p:nvPr/>
        </p:nvCxnSpPr>
        <p:spPr>
          <a:xfrm xmlns:a="http://schemas.openxmlformats.org/drawingml/2006/main">
            <a:off x="1695450" y="295275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1" name=""/>
          <p:cNvCxnSpPr/>
          <p:nvPr/>
        </p:nvCxnSpPr>
        <p:spPr>
          <a:xfrm xmlns:a="http://schemas.openxmlformats.org/drawingml/2006/main">
            <a:off x="4210050" y="295275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2" name=""/>
          <p:cNvCxnSpPr/>
          <p:nvPr/>
        </p:nvCxnSpPr>
        <p:spPr>
          <a:xfrm xmlns:a="http://schemas.openxmlformats.org/drawingml/2006/main">
            <a:off x="6724650" y="295275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3" name=""/>
          <p:cNvCxnSpPr/>
          <p:nvPr/>
        </p:nvCxnSpPr>
        <p:spPr>
          <a:xfrm xmlns:a="http://schemas.openxmlformats.org/drawingml/2006/main">
            <a:off x="9239250" y="295275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4" name=""/>
          <p:cNvCxnSpPr/>
          <p:nvPr/>
        </p:nvCxnSpPr>
        <p:spPr>
          <a:xfrm xmlns:a="http://schemas.openxmlformats.org/drawingml/2006/main">
            <a:off x="1695450" y="415290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5" name=""/>
          <p:cNvCxnSpPr/>
          <p:nvPr/>
        </p:nvCxnSpPr>
        <p:spPr>
          <a:xfrm xmlns:a="http://schemas.openxmlformats.org/drawingml/2006/main">
            <a:off x="4210050" y="415290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6" name=""/>
          <p:cNvCxnSpPr/>
          <p:nvPr/>
        </p:nvCxnSpPr>
        <p:spPr>
          <a:xfrm xmlns:a="http://schemas.openxmlformats.org/drawingml/2006/main">
            <a:off x="6724650" y="415290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7" name=""/>
          <p:cNvCxnSpPr/>
          <p:nvPr/>
        </p:nvCxnSpPr>
        <p:spPr>
          <a:xfrm xmlns:a="http://schemas.openxmlformats.org/drawingml/2006/main">
            <a:off x="9239250" y="415290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8" name=""/>
          <p:cNvCxnSpPr/>
          <p:nvPr/>
        </p:nvCxnSpPr>
        <p:spPr>
          <a:xfrm xmlns:a="http://schemas.openxmlformats.org/drawingml/2006/main">
            <a:off x="1695450" y="4572000"/>
            <a:ext cx="7543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9" name=""/>
          <p:cNvCxnSpPr/>
          <p:nvPr/>
        </p:nvCxnSpPr>
        <p:spPr>
          <a:xfrm xmlns:a="http://schemas.openxmlformats.org/drawingml/2006/main">
            <a:off x="6096000" y="4572000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50" name=""/>
          <p:cNvCxnSpPr/>
          <p:nvPr/>
        </p:nvCxnSpPr>
        <p:spPr>
          <a:xfrm xmlns:a="http://schemas.openxmlformats.org/drawingml/2006/main">
            <a:off x="6096000" y="52863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B55503-DEDC-4D98-8DDD-F85DD499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19250"/>
            <a:ext cx="4762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0E1230"/>
          </a:solidFill>
          <a:ln xmlns:a="http://schemas.openxmlformats.org/drawingml/2006/main" w="14288">
            <a:solidFill>
              <a:srgbClr val="0E123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9CE476-85DD-47AD-A295-748FAAF0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695450"/>
            <a:ext cx="45339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880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Canonical profile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fixed order • routes • versions • quotas • activations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0F6505-2946-44B0-A280-6BC812D4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20574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B2B49C-04C3-4320-BAEF-626F18D1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Registry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C95A5F-C8B2-4FC2-A2C8-FEF8BDEC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0047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owned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B5DD48-F436-4670-9B20-0D2B09E8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33750"/>
            <a:ext cx="20574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B66284-1D84-499E-A3A4-2D4150CA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476625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Approvals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CBB1BB-3249-4D2B-9A54-424AA3EE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80047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k-of-n decisions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368377-D392-4A36-9C5D-56D45DCD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333750"/>
            <a:ext cx="20574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FE196-E889-4163-BC02-D1D5B10B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76625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Document trail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CF6240-E3C8-48DF-A54D-8DA336F0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0047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append-only heads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5FCDF2-28E4-4782-868C-DCB3DB37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20574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6FE45D-EF71-4679-9DFD-7ADE4BAC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76625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411EF8-B091-45BD-8E32-80A42681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00475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storage + Kafka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C33A57-A700-4C1C-A81E-5A0E8DC7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10125"/>
            <a:ext cx="4000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B2B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4CA3D0-4F71-4C43-81D1-D7A2BDE7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86325"/>
            <a:ext cx="377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B2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5B2BFF"/>
                </a:solidFill>
                <a:latin typeface="Helvetica Neue"/>
                <a:ea typeface="Helvetica Neue"/>
                <a:cs typeface="Helvetica Neue"/>
              </a:rPr>
              <a:t>Declared atomic workflow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BADF4C-DBFF-44E7-837E-3329C50B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715000"/>
            <a:ext cx="2857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DB5332-3FA9-485E-9668-52EA9D69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7912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589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authenticated state root</a:t>
            </a:r>
          </a:p>
        </p:txBody>
      </p:sp>
    </p:spTree>
    <p:extLst>
      <p:ext uri="{BB962C8B-B14F-4D97-AF65-F5344CB8AC3E}">
        <p14:creationId xmlns:p14="http://schemas.microsoft.com/office/powerpoint/2010/main" val="8661047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itle-9">
            <a:extLst xmlns:a="http://schemas.openxmlformats.org/drawingml/2006/main">
              <a:ext uri="{FF2B5EF4-FFF2-40B4-BE49-F238E27FC236}">
                <a16:creationId xmlns:a16="http://schemas.microsoft.com/office/drawing/2014/main" id="{40B1DD9B-9E04-4A80-8F3C-D54AA023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evidence workflow demonstrates the complete trust loop</a:t>
            </a:r>
          </a:p>
        </p:txBody>
      </p:sp>
      <p:sp>
        <p:nvSpPr>
          <p:cNvPr id="2" name="page-9">
            <a:extLst xmlns:a="http://schemas.openxmlformats.org/drawingml/2006/main">
              <a:ext uri="{FF2B5EF4-FFF2-40B4-BE49-F238E27FC236}">
                <a16:creationId xmlns:a16="http://schemas.microsoft.com/office/drawing/2014/main" id="{DF54C62A-F951-4EE5-A597-DED0883D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BCD0C-E472-4CE7-B9F5-BECA9BF4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800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rPr>
              <a:t>The runner checks external data, app-chain proofs, finality and the Cardano anchor.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2000250" y="338137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4714875" y="33813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3" name=""/>
          <p:cNvCxnSpPr/>
          <p:nvPr/>
        </p:nvCxnSpPr>
        <p:spPr>
          <a:xfrm xmlns:a="http://schemas.openxmlformats.org/drawingml/2006/main">
            <a:off x="5143500" y="2381250"/>
            <a:ext cx="0" cy="2000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4" name=""/>
          <p:cNvCxnSpPr/>
          <p:nvPr/>
        </p:nvCxnSpPr>
        <p:spPr>
          <a:xfrm xmlns:a="http://schemas.openxmlformats.org/drawingml/2006/main">
            <a:off x="5143500" y="2381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5" name=""/>
          <p:cNvCxnSpPr/>
          <p:nvPr/>
        </p:nvCxnSpPr>
        <p:spPr>
          <a:xfrm xmlns:a="http://schemas.openxmlformats.org/drawingml/2006/main">
            <a:off x="5143500" y="43815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>
            <a:off x="7239000" y="23812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7239000" y="43815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8" name=""/>
          <p:cNvCxnSpPr/>
          <p:nvPr/>
        </p:nvCxnSpPr>
        <p:spPr>
          <a:xfrm xmlns:a="http://schemas.openxmlformats.org/drawingml/2006/main">
            <a:off x="7667625" y="2381250"/>
            <a:ext cx="0" cy="2000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9" name=""/>
          <p:cNvCxnSpPr/>
          <p:nvPr/>
        </p:nvCxnSpPr>
        <p:spPr>
          <a:xfrm xmlns:a="http://schemas.openxmlformats.org/drawingml/2006/main">
            <a:off x="7667625" y="33813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40" name=""/>
          <p:cNvCxnSpPr/>
          <p:nvPr/>
        </p:nvCxnSpPr>
        <p:spPr>
          <a:xfrm xmlns:a="http://schemas.openxmlformats.org/drawingml/2006/main">
            <a:off x="9620250" y="338137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51E7B9-C0A4-4DE2-A9D9-9BF4BB1C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857500"/>
            <a:ext cx="1571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14288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EFB600-EC99-41EE-BEA5-0E3AF861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933700"/>
            <a:ext cx="1343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Inspection</a:t>
            </a:r>
          </a:p>
          <a:p xmlns:a="http://schemas.openxmlformats.org/drawingml/2006/main">
            <a:pPr algn="ctr">
              <a:defRPr sz="165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certificate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B9300D-CAC2-42C8-BAD6-D3C02457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57500"/>
            <a:ext cx="1571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E1230"/>
          </a:solidFill>
          <a:ln xmlns:a="http://schemas.openxmlformats.org/drawingml/2006/main" w="14288">
            <a:solidFill>
              <a:srgbClr val="0E123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F36877-82C4-458A-B13D-335C14A6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33700"/>
            <a:ext cx="13430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Finalized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evidence command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6F020A-E1E5-4E3F-9504-9D06F9AF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57375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AFB619-D194-4401-A460-8A66ED5B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33575"/>
            <a:ext cx="139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object.put</a:t>
            </a:r>
          </a:p>
          <a:p xmlns:a="http://schemas.openxmlformats.org/drawingml/2006/main">
            <a:pPr algn="ctr">
              <a:defRPr sz="150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immutable archive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EC390D-C157-47E4-8EFB-F730CFE6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57625"/>
            <a:ext cx="1619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9DD63D-8ED4-4DEA-BC9F-71F46D79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933825"/>
            <a:ext cx="1390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ipfs.pin</a:t>
            </a:r>
          </a:p>
          <a:p xmlns:a="http://schemas.openxmlformats.org/drawingml/2006/main">
            <a:pPr algn="ctr">
              <a:defRPr sz="150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known CID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5F55FE-ADC0-460E-A725-9FC0C220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1524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B2B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6DFDCD-0DCA-4C9D-8B5C-C43D17D8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33700"/>
            <a:ext cx="1295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B2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5B2BFF"/>
                </a:solidFill>
                <a:latin typeface="Helvetica Neue"/>
                <a:ea typeface="Helvetica Neue"/>
                <a:cs typeface="Helvetica Neue"/>
              </a:rPr>
              <a:t>Both results</a:t>
            </a:r>
          </a:p>
          <a:p xmlns:a="http://schemas.openxmlformats.org/drawingml/2006/main">
            <a:pPr algn="ctr">
              <a:defRPr sz="1575" b="1">
                <a:solidFill>
                  <a:srgbClr val="5B2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5B2BFF"/>
                </a:solidFill>
                <a:latin typeface="Helvetica Neue"/>
                <a:ea typeface="Helvetica Neue"/>
                <a:cs typeface="Helvetica Neue"/>
              </a:rPr>
              <a:t>incorporated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B32E57-3B50-4C56-94C9-21747146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857500"/>
            <a:ext cx="1238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E1230"/>
          </a:solidFill>
          <a:ln xmlns:a="http://schemas.openxmlformats.org/drawingml/2006/main" w="14288">
            <a:solidFill>
              <a:srgbClr val="0E123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20C62B-92DC-4D6B-AB2A-3467CEF0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933700"/>
            <a:ext cx="1009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Kafka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E1421F-3E14-4D5C-8987-2F80D24E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34000"/>
            <a:ext cx="6667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0A182C-6D2E-4160-8048-F0C4F22A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5054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30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Verify exact bytes + receipts + state/effect proofs + threshold finality + Cardano datum</a:t>
            </a:r>
          </a:p>
        </p:txBody>
      </p:sp>
    </p:spTree>
    <p:extLst>
      <p:ext uri="{BB962C8B-B14F-4D97-AF65-F5344CB8AC3E}">
        <p14:creationId xmlns:p14="http://schemas.microsoft.com/office/powerpoint/2010/main" val="13844227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itle-10">
            <a:extLst xmlns:a="http://schemas.openxmlformats.org/drawingml/2006/main">
              <a:ext uri="{FF2B5EF4-FFF2-40B4-BE49-F238E27FC236}">
                <a16:creationId xmlns:a16="http://schemas.microsoft.com/office/drawing/2014/main" id="{7518042B-E7F9-4E4A-B396-551BBE8E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cases scale from configuration to domain plugins</a:t>
            </a:r>
          </a:p>
        </p:txBody>
      </p:sp>
      <p:sp>
        <p:nvSpPr>
          <p:cNvPr id="2" name="page-10">
            <a:extLst xmlns:a="http://schemas.openxmlformats.org/drawingml/2006/main">
              <a:ext uri="{FF2B5EF4-FFF2-40B4-BE49-F238E27FC236}">
                <a16:creationId xmlns:a16="http://schemas.microsoft.com/office/drawing/2014/main" id="{AC704B5C-6D21-4CEF-BD69-C08C72B4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842F3-76A3-4595-8EFC-581B6BB0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800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rPr>
              <a:t>Reuse the platform; specialize only the business semantics and integrations.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400050" y="1809750"/>
            <a:ext cx="25908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474FD-DE48-44A2-964B-4C27518A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CONFIG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FF540-042B-49DB-92E9-CF2280D8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Consortium audit log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C9AC5D-805F-4C61-9E34-84FB38F5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Ordered records + proofs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3333750" y="1809750"/>
            <a:ext cx="25908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39EE9F-32FB-4F0F-9D0E-563C3C5E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812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CONFIG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FC9168-80F6-4197-8696-97735D20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Shared registry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EC9F09-D736-4716-A5F3-FC964679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52750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Owned keys + anchored state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6267450" y="1809750"/>
            <a:ext cx="25908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E03A9-7F37-4637-A7B4-0D61815E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CONFIG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78C96A-42BD-4CC7-8652-43F74979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62200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Multi-party approvals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700A9C-F76B-4625-A383-3266E02A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52750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k-of-n decisions</a:t>
            </a:r>
          </a:p>
        </p:txBody>
      </p:sp>
      <p:cxnSp>
        <p:nvCxnSpPr>
          <p:cNvPr id="51" name=""/>
          <p:cNvCxnSpPr/>
          <p:nvPr/>
        </p:nvCxnSpPr>
        <p:spPr>
          <a:xfrm xmlns:a="http://schemas.openxmlformats.org/drawingml/2006/main">
            <a:off x="9201150" y="1809750"/>
            <a:ext cx="25908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B73E90-66CD-4EE5-805B-C41370C0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8120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CONFIG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BDD0F9-AE1C-4AF1-BD62-579F274B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62200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Document trail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F5F524-4F1F-43A5-A11B-259143E0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52750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Append-only entity history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400050" y="4000500"/>
            <a:ext cx="25908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5B2BFF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DD94CA-E3C1-46D8-B7CE-754414BB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2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B2BFF"/>
                </a:solidFill>
                <a:latin typeface="Helvetica Neue"/>
                <a:ea typeface="Helvetica Neue"/>
                <a:cs typeface="Helvetica Neue"/>
              </a:rPr>
              <a:t>FIRST-PARTY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731687-F72F-4EDA-9739-BBE3F16D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Evidence publication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A272C7-78DC-4DE5-A37C-6CF2B297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S3 + IPFS + Kafka</a:t>
            </a:r>
          </a:p>
        </p:txBody>
      </p:sp>
      <p:cxnSp>
        <p:nvCxnSpPr>
          <p:cNvPr id="59" name=""/>
          <p:cNvCxnSpPr/>
          <p:nvPr/>
        </p:nvCxnSpPr>
        <p:spPr>
          <a:xfrm xmlns:a="http://schemas.openxmlformats.org/drawingml/2006/main">
            <a:off x="3333750" y="4000500"/>
            <a:ext cx="25908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1230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FF0510-9EB7-4377-8253-6BDF3572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7195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PLUGIN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E06D36-7F6F-4730-8949-750993A3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52950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Digital product passport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3F7DC2-D58D-402B-9490-2A54FF3B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43500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Actors, credentials, lifecycle</a:t>
            </a:r>
          </a:p>
        </p:txBody>
      </p:sp>
      <p:cxnSp>
        <p:nvCxnSpPr>
          <p:cNvPr id="63" name=""/>
          <p:cNvCxnSpPr/>
          <p:nvPr/>
        </p:nvCxnSpPr>
        <p:spPr>
          <a:xfrm xmlns:a="http://schemas.openxmlformats.org/drawingml/2006/main">
            <a:off x="6267450" y="4000500"/>
            <a:ext cx="25908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1230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7A0D71-726B-4E59-A42D-23BFC979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7195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PLUGIN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99C67C-6C3C-40F0-A68B-E572A42F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52950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82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Oracle observation ledger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67D0DB-1692-4216-A5CC-0C4B3238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43500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Sources, quorum, aggregation</a:t>
            </a:r>
          </a:p>
        </p:txBody>
      </p:sp>
      <p:cxnSp>
        <p:nvCxnSpPr>
          <p:cNvPr id="67" name=""/>
          <p:cNvCxnSpPr/>
          <p:nvPr/>
        </p:nvCxnSpPr>
        <p:spPr>
          <a:xfrm xmlns:a="http://schemas.openxmlformats.org/drawingml/2006/main">
            <a:off x="9201150" y="4000500"/>
            <a:ext cx="25908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E1230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C99B83-111D-4DD0-90A2-4ED8B921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71950"/>
            <a:ext cx="259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PLUGIN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18B53B-2F19-4204-B0DD-429C2057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52950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Cross-org settlement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BDB0BA-ED82-41A4-8970-0BDD199F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143500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Authorization + hardened payment</a:t>
            </a:r>
          </a:p>
        </p:txBody>
      </p:sp>
    </p:spTree>
    <p:extLst>
      <p:ext uri="{BB962C8B-B14F-4D97-AF65-F5344CB8AC3E}">
        <p14:creationId xmlns:p14="http://schemas.microsoft.com/office/powerpoint/2010/main" val="21170993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-11">
            <a:extLst xmlns:a="http://schemas.openxmlformats.org/drawingml/2006/main">
              <a:ext uri="{FF2B5EF4-FFF2-40B4-BE49-F238E27FC236}">
                <a16:creationId xmlns:a16="http://schemas.microsoft.com/office/drawing/2014/main" id="{C1F3BB2E-1F1C-42A0-A4AE-EAC46B20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platform proves agreement—not physical truth</a:t>
            </a:r>
          </a:p>
        </p:txBody>
      </p:sp>
      <p:sp>
        <p:nvSpPr>
          <p:cNvPr id="2" name="page-11">
            <a:extLst xmlns:a="http://schemas.openxmlformats.org/drawingml/2006/main">
              <a:ext uri="{FF2B5EF4-FFF2-40B4-BE49-F238E27FC236}">
                <a16:creationId xmlns:a16="http://schemas.microsoft.com/office/drawing/2014/main" id="{692CF9DD-06B3-403D-AA08-8642C21E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3B86E-EA88-4147-8ABE-79437B4E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800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rPr>
              <a:t>Business truth remains an explicit domain responsibility.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1D1E0-71F3-49D5-ADA1-041B6368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334000" cy="4048125"/>
          </a:xfrm>
          <a:prstGeom xmlns:a="http://schemas.openxmlformats.org/drawingml/2006/main" prst="roundRect">
            <a:avLst>
              <a:gd name="adj" fmla="val 188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22E516-1F51-4085-87DE-FAE4A01E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14500"/>
            <a:ext cx="5715000" cy="4048125"/>
          </a:xfrm>
          <a:prstGeom xmlns:a="http://schemas.openxmlformats.org/drawingml/2006/main" prst="roundRect">
            <a:avLst>
              <a:gd name="adj" fmla="val 1882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19050">
            <a:solidFill>
              <a:srgbClr val="5156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EBE30-845E-4CCE-9686-A985DF9F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PLATFORM CAN PROVE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9ADAE-3E6D-4C80-96C0-9D600706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Cryptographic agreement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38F1E-FEA1-41DB-AC08-B2A1A482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14A655-638F-4F42-98DA-DECAD906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95625"/>
            <a:ext cx="4219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Who signed and finalized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0D49C-814E-4E07-8475-0AE0A549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6ABA1A-3FD0-4DDA-8A5C-DB46133B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552825"/>
            <a:ext cx="4219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The exact message order and resulting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1B0963-B05A-4AE0-AD2D-663E1F86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BA24B6-FCA2-4826-8343-8117FD4C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010025"/>
            <a:ext cx="4219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Inclusion or exclusion against one root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8B36C-33BF-4779-83FD-11E5EDF1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968DB4-3D04-43F9-80AF-CEC0EE00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467225"/>
            <a:ext cx="4219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The authorized effect and incorporated receipt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72C3C6-7AF5-4003-8FDC-ACD96FE7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09A764-87E1-44BD-A1AC-2591CFFB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924425"/>
            <a:ext cx="4219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The linkage to a Cardano anchor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BED91D-50D0-40FA-9D64-BB2EB144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002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3B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3B8A"/>
                </a:solidFill>
                <a:latin typeface="Helvetica Neue"/>
                <a:ea typeface="Helvetica Neue"/>
                <a:cs typeface="Helvetica Neue"/>
              </a:rPr>
              <a:t>THE DOMAIN MUST ESTABLISH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748721-9191-4A3A-96DA-9878370A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288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Real-world meaning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0C300A-8E06-4DA3-9DD6-4B91065B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432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8A"/>
          </a:solidFill>
          <a:ln xmlns:a="http://schemas.openxmlformats.org/drawingml/2006/main" w="19050">
            <a:solidFill>
              <a:srgbClr val="FF3B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3D0B2E-164A-408F-9DE8-6F6116AB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95625"/>
            <a:ext cx="4600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Whether a physical inspection is true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8926B2-81F5-4774-AB15-44EE49DE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004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8A"/>
          </a:solidFill>
          <a:ln xmlns:a="http://schemas.openxmlformats.org/drawingml/2006/main" w="19050">
            <a:solidFill>
              <a:srgbClr val="FF3B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CC275F-AB7D-4D42-868F-9A388D82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552825"/>
            <a:ext cx="4600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Whether oracle sources are accurate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C736CC-4158-479C-963C-1068CBDF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576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8A"/>
          </a:solidFill>
          <a:ln xmlns:a="http://schemas.openxmlformats.org/drawingml/2006/main" w="19050">
            <a:solidFill>
              <a:srgbClr val="FF3B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5A53F8-9995-4497-81A8-031B178E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010025"/>
            <a:ext cx="4600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Whether a workflow satisfies regulation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BC99B0-16C3-410B-880F-3BCEB0EC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148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8A"/>
          </a:solidFill>
          <a:ln xmlns:a="http://schemas.openxmlformats.org/drawingml/2006/main" w="19050">
            <a:solidFill>
              <a:srgbClr val="FF3B8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D88413-346F-4F23-A68A-67021199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467225"/>
            <a:ext cx="4600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Whether external data remains available forever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8D0308-1436-4912-B688-C055AE1F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720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8A"/>
          </a:solidFill>
          <a:ln xmlns:a="http://schemas.openxmlformats.org/drawingml/2006/main" w="19050">
            <a:solidFill>
              <a:srgbClr val="FF3B8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892E48-5B93-4606-8998-FABB7180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924425"/>
            <a:ext cx="4600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Whether a payment policy is production-safe</a:t>
            </a:r>
          </a:p>
        </p:txBody>
      </p:sp>
    </p:spTree>
    <p:extLst>
      <p:ext uri="{BB962C8B-B14F-4D97-AF65-F5344CB8AC3E}">
        <p14:creationId xmlns:p14="http://schemas.microsoft.com/office/powerpoint/2010/main" val="21045817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12">
            <a:extLst xmlns:a="http://schemas.openxmlformats.org/drawingml/2006/main">
              <a:ext uri="{FF2B5EF4-FFF2-40B4-BE49-F238E27FC236}">
                <a16:creationId xmlns:a16="http://schemas.microsoft.com/office/drawing/2014/main" id="{E8E7BED8-4F44-4DB7-9043-1DD83489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382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devnet path is end to end</a:t>
            </a:r>
          </a:p>
        </p:txBody>
      </p:sp>
      <p:sp>
        <p:nvSpPr>
          <p:cNvPr id="2" name="page-12">
            <a:extLst xmlns:a="http://schemas.openxmlformats.org/drawingml/2006/main">
              <a:ext uri="{FF2B5EF4-FFF2-40B4-BE49-F238E27FC236}">
                <a16:creationId xmlns:a16="http://schemas.microsoft.com/office/drawing/2014/main" id="{3A1EFD43-7D65-4FCB-95EF-B688DBE2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F5192-C568-41D8-8B72-2A13A686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800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A808F"/>
                </a:solidFill>
                <a:latin typeface="Helvetica Neue"/>
                <a:ea typeface="Helvetica Neue"/>
                <a:cs typeface="Helvetica Neue"/>
              </a:rPr>
              <a:t>Pre-release: public-network soak, load and domain operations remain rollout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F71F88-21E3-4DC2-9B45-5E620180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35623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6A746-DE99-4C58-9FCC-405D4932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23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9388A-1BDF-4E98-BC4E-40E0E802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members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DB8E85-250C-4059-9CF6-D5B30412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Threshold finality, proofs and script anchoring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128CC-46D3-4109-A638-34298447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47875"/>
            <a:ext cx="35623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789C2B-2F43-45A6-A6C8-1D21D814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33625"/>
            <a:ext cx="123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91E40-30D1-4FD4-A10B-6EF77181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23850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connectors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DDB91A-2655-4E42-A242-FBED7B3D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76237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Kafka, S3-compatible storage and Kubo/IPFS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3CE4C-E941-4223-BB16-F5F1D69B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47875"/>
            <a:ext cx="35623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D9AB23-13AC-4D25-BAD3-680CF156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33625"/>
            <a:ext cx="123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3DD516-9904-4533-A31A-8DF396F5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3850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deployment modes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BBF3D7-C795-4E55-AC1B-537EAFF8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6237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Docker Compose and ordinary host processes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1CA2AA-FA33-4DF5-AE61-2A360D64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Also verified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03A70C-59DF-4BBF-BDFD-B45DB4B7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139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15664"/>
                </a:solidFill>
                <a:latin typeface="Helvetica Neue"/>
                <a:ea typeface="Helvetica Neue"/>
                <a:cs typeface="Helvetica Neue"/>
              </a:rPr>
              <a:t>fresh + retained restart  •  executor fencing/failover  •  state/effect proofs  •  JVM plugins  •  Linux ARM64 native composite startup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CA23AC-46D7-4032-B0D8-57A93287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953125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E9D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E9D68"/>
                </a:solidFill>
                <a:latin typeface="Helvetica Neue"/>
                <a:ea typeface="Helvetica Neue"/>
                <a:cs typeface="Helvetica Neue"/>
              </a:rPr>
              <a:t>Independent final reviews: 0 unresolved Critical / High / Medium findings in ADR-013 scope</a:t>
            </a:r>
          </a:p>
        </p:txBody>
      </p:sp>
    </p:spTree>
    <p:extLst>
      <p:ext uri="{BB962C8B-B14F-4D97-AF65-F5344CB8AC3E}">
        <p14:creationId xmlns:p14="http://schemas.microsoft.com/office/powerpoint/2010/main" val="12608917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D72982-21C3-4A7F-A52A-355A06B1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YANO APP CHAINS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797B3-940F-4ECF-9B13-B87940DE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95375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Start with one decision that multiple organizations must trust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762000" y="4191000"/>
            <a:ext cx="10096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07DA9-5BAB-4F4D-8133-06356AEE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48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C809C-38B0-46B1-A4E5-F46831F1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C1E7E6-8828-48E6-ACA0-FA41D782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Run the devnet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9E734-5B51-4E05-B609-6504675D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48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5877F-8504-442A-BCC4-CCEC1E20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718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D94B08-D234-4C1D-A3F4-5D657769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572000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Select the smallest stock machine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51715A-822D-4CEC-928D-F8B18C98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48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E3F300-B004-453F-9B49-5A9A7F7D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718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1B6B0C-42D3-4BB7-A904-1A01F7E0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572000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Add effects only for finalized actions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F594D2-17AB-47E2-AC78-8D108278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48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364901-F759-42DC-938E-F43B18F6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718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D50761-D4B9-4172-8446-8B6B81AB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72000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E1230"/>
                </a:solidFill>
                <a:latin typeface="Helvetica Neue"/>
                <a:ea typeface="Helvetica Neue"/>
                <a:cs typeface="Helvetica Neue"/>
              </a:rPr>
              <a:t>Build a domain plugin where needed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D99E82-EDB4-4895-8F34-7D5A6780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0E1230"/>
          </a:solidFill>
          <a:ln xmlns:a="http://schemas.openxmlformats.org/drawingml/2006/main" w="9525">
            <a:solidFill>
              <a:srgbClr val="0E123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5B4D8B-9B90-4C13-A0DB-C3034F8D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Shared decisions become finalized state. Finalized state becomes proof. Proof can authorize action.</a:t>
            </a:r>
          </a:p>
        </p:txBody>
      </p:sp>
    </p:spTree>
    <p:extLst>
      <p:ext uri="{BB962C8B-B14F-4D97-AF65-F5344CB8AC3E}">
        <p14:creationId xmlns:p14="http://schemas.microsoft.com/office/powerpoint/2010/main" val="7216312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2026-07-17T00:39:48.9450000Z</dcterms:created>
  <dcterms:modified xsi:type="dcterms:W3CDTF">2026-07-17T00:39:48.9450000Z</dcterms:modified>
</coreProperties>
</file>