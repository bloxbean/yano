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d6fab509fa4b81" /><Relationship Type="http://schemas.openxmlformats.org/officeDocument/2006/relationships/extended-properties" Target="/docProps/app.xml" Id="Rce9d88ae20834777" /><Relationship Type="http://schemas.openxmlformats.org/officeDocument/2006/relationships/officeDocument" Target="/ppt/presentation.xml" Id="Rcfca33fd929c45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ad1624c79746e2"/>
  </p:sldMasterIdLst>
  <p:notesMasterIdLst>
    <p:notesMasterId xmlns:r="http://schemas.openxmlformats.org/officeDocument/2006/relationships" r:id="R8c80c2260826417e"/>
  </p:notesMasterIdLst>
  <p:sldIdLst>
    <p:sldId xmlns:r="http://schemas.openxmlformats.org/officeDocument/2006/relationships" id="256" r:id="R231e7696f0a844f8"/>
    <p:sldId xmlns:r="http://schemas.openxmlformats.org/officeDocument/2006/relationships" id="257" r:id="R1447aea5ec774c9e"/>
    <p:sldId xmlns:r="http://schemas.openxmlformats.org/officeDocument/2006/relationships" id="258" r:id="R2f4eac101469430b"/>
    <p:sldId xmlns:r="http://schemas.openxmlformats.org/officeDocument/2006/relationships" id="259" r:id="R1ee8035477dd478f"/>
    <p:sldId xmlns:r="http://schemas.openxmlformats.org/officeDocument/2006/relationships" id="260" r:id="R489073af23cc484c"/>
    <p:sldId xmlns:r="http://schemas.openxmlformats.org/officeDocument/2006/relationships" id="261" r:id="R1a652b1c1c414401"/>
    <p:sldId xmlns:r="http://schemas.openxmlformats.org/officeDocument/2006/relationships" id="262" r:id="R7f0d3ae9d1d54d84"/>
    <p:sldId xmlns:r="http://schemas.openxmlformats.org/officeDocument/2006/relationships" id="263" r:id="R60c49dddbcbf4c56"/>
    <p:sldId xmlns:r="http://schemas.openxmlformats.org/officeDocument/2006/relationships" id="264" r:id="R4414a3c4c9ca449e"/>
    <p:sldId xmlns:r="http://schemas.openxmlformats.org/officeDocument/2006/relationships" id="265" r:id="Rf9c5961a683e407f"/>
    <p:sldId xmlns:r="http://schemas.openxmlformats.org/officeDocument/2006/relationships" id="266" r:id="R9ff9908a52554527"/>
    <p:sldId xmlns:r="http://schemas.openxmlformats.org/officeDocument/2006/relationships" id="267" r:id="R2decb7b753254e89"/>
    <p:sldId xmlns:r="http://schemas.openxmlformats.org/officeDocument/2006/relationships" id="268" r:id="Ra734b993fd05487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355f886cb34188" /><Relationship Type="http://schemas.openxmlformats.org/officeDocument/2006/relationships/slideMaster" Target="/ppt/slideMasters/slideMaster1.xml" Id="Rebad1624c79746e2" /><Relationship Type="http://schemas.openxmlformats.org/officeDocument/2006/relationships/notesMaster" Target="/ppt/notesMasters/notesMaster1.xml" Id="R8c80c2260826417e" /><Relationship Type="http://schemas.openxmlformats.org/officeDocument/2006/relationships/presProps" Target="/ppt/presProps.xml" Id="R21ccfcc1d8fb4e2f" /><Relationship Type="http://schemas.openxmlformats.org/officeDocument/2006/relationships/tableStyles" Target="/ppt/tableStyles.xml" Id="R2fe3a165ed604b12" /><Relationship Type="http://schemas.openxmlformats.org/officeDocument/2006/relationships/slide" Target="/ppt/slides/slide1.xml" Id="R231e7696f0a844f8" /><Relationship Type="http://schemas.openxmlformats.org/officeDocument/2006/relationships/slide" Target="/ppt/slides/slide2.xml" Id="R1447aea5ec774c9e" /><Relationship Type="http://schemas.openxmlformats.org/officeDocument/2006/relationships/slide" Target="/ppt/slides/slide3.xml" Id="R2f4eac101469430b" /><Relationship Type="http://schemas.openxmlformats.org/officeDocument/2006/relationships/slide" Target="/ppt/slides/slide4.xml" Id="R1ee8035477dd478f" /><Relationship Type="http://schemas.openxmlformats.org/officeDocument/2006/relationships/slide" Target="/ppt/slides/slide5.xml" Id="R489073af23cc484c" /><Relationship Type="http://schemas.openxmlformats.org/officeDocument/2006/relationships/slide" Target="/ppt/slides/slide6.xml" Id="R1a652b1c1c414401" /><Relationship Type="http://schemas.openxmlformats.org/officeDocument/2006/relationships/slide" Target="/ppt/slides/slide7.xml" Id="R7f0d3ae9d1d54d84" /><Relationship Type="http://schemas.openxmlformats.org/officeDocument/2006/relationships/slide" Target="/ppt/slides/slide8.xml" Id="R60c49dddbcbf4c56" /><Relationship Type="http://schemas.openxmlformats.org/officeDocument/2006/relationships/slide" Target="/ppt/slides/slide9.xml" Id="R4414a3c4c9ca449e" /><Relationship Type="http://schemas.openxmlformats.org/officeDocument/2006/relationships/slide" Target="/ppt/slides/slide10.xml" Id="Rf9c5961a683e407f" /><Relationship Type="http://schemas.openxmlformats.org/officeDocument/2006/relationships/slide" Target="/ppt/slides/slide11.xml" Id="R9ff9908a52554527" /><Relationship Type="http://schemas.openxmlformats.org/officeDocument/2006/relationships/slide" Target="/ppt/slides/slide12.xml" Id="R2decb7b753254e89" /><Relationship Type="http://schemas.openxmlformats.org/officeDocument/2006/relationships/slide" Target="/ppt/slides/slide13.xml" Id="Ra734b993fd0548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9214b71f3d48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6b073f693f4fc2" /><Relationship Type="http://schemas.openxmlformats.org/officeDocument/2006/relationships/notesMaster" Target="/ppt/notesMasters/notesMaster1.xml" Id="Rbc73cdf5ed3044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7fcef869984c89" /><Relationship Type="http://schemas.openxmlformats.org/officeDocument/2006/relationships/notesMaster" Target="/ppt/notesMasters/notesMaster1.xml" Id="Reeed5b5b0262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0b2d1061c54098" /><Relationship Type="http://schemas.openxmlformats.org/officeDocument/2006/relationships/notesMaster" Target="/ppt/notesMasters/notesMaster1.xml" Id="Rda89a9b2864a4e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6189c9fd174825" /><Relationship Type="http://schemas.openxmlformats.org/officeDocument/2006/relationships/notesMaster" Target="/ppt/notesMasters/notesMaster1.xml" Id="R07ec788cf05f4b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ba1abd14e0429a" /><Relationship Type="http://schemas.openxmlformats.org/officeDocument/2006/relationships/notesMaster" Target="/ppt/notesMasters/notesMaster1.xml" Id="Rda3bdf77f02b49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dd3af0a46f49d3" /><Relationship Type="http://schemas.openxmlformats.org/officeDocument/2006/relationships/notesMaster" Target="/ppt/notesMasters/notesMaster1.xml" Id="Rb7b0538748d449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681659555a4a08" /><Relationship Type="http://schemas.openxmlformats.org/officeDocument/2006/relationships/notesMaster" Target="/ppt/notesMasters/notesMaster1.xml" Id="R9084d0cb511a4d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056415ec254fd0" /><Relationship Type="http://schemas.openxmlformats.org/officeDocument/2006/relationships/notesMaster" Target="/ppt/notesMasters/notesMaster1.xml" Id="R8b241b7441b146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1c0ac84a6c4efe" /><Relationship Type="http://schemas.openxmlformats.org/officeDocument/2006/relationships/notesMaster" Target="/ppt/notesMasters/notesMaster1.xml" Id="R09e636d22da345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85bedac0a84b95" /><Relationship Type="http://schemas.openxmlformats.org/officeDocument/2006/relationships/notesMaster" Target="/ppt/notesMasters/notesMaster1.xml" Id="R89ae018726c946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1d5cdaeebc4b44" /><Relationship Type="http://schemas.openxmlformats.org/officeDocument/2006/relationships/notesMaster" Target="/ppt/notesMasters/notesMaster1.xml" Id="R1aeba0a396be48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c0ec8ff019432b" /><Relationship Type="http://schemas.openxmlformats.org/officeDocument/2006/relationships/notesMaster" Target="/ppt/notesMasters/notesMaster1.xml" Id="Rd8464e8f20a44f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da3b3ee01343bd" /><Relationship Type="http://schemas.openxmlformats.org/officeDocument/2006/relationships/notesMaster" Target="/ppt/notesMasters/notesMaster1.xml" Id="R0556936358434f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7f613e036b420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170fb9862d4eed" /><Relationship Type="http://schemas.openxmlformats.org/officeDocument/2006/relationships/slideLayout" Target="/ppt/slideLayouts/slideLayout1.xml" Id="R759525f300be44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9525f300be44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4766201b64882" /><Relationship Type="http://schemas.openxmlformats.org/officeDocument/2006/relationships/image" Target="/ppt/media/image.png" Id="Rf314b84f9b8349e5" /><Relationship Type="http://schemas.openxmlformats.org/officeDocument/2006/relationships/notesSlide" Target="/ppt/notesSlides/notesSlide1.xml" Id="R2f9dcf09a7834c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1c55dbd554901" /><Relationship Type="http://schemas.openxmlformats.org/officeDocument/2006/relationships/notesSlide" Target="/ppt/notesSlides/notesSlide2.xml" Id="R51b35350584442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fe48be4894b0d" /><Relationship Type="http://schemas.openxmlformats.org/officeDocument/2006/relationships/notesSlide" Target="/ppt/notesSlides/notesSlide3.xml" Id="R4f8ab17c07914a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0fffc7bdb4fe2" /><Relationship Type="http://schemas.openxmlformats.org/officeDocument/2006/relationships/notesSlide" Target="/ppt/notesSlides/notesSlide4.xml" Id="R3389ccb2a15d4c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f3c05e2eb4df7" /><Relationship Type="http://schemas.openxmlformats.org/officeDocument/2006/relationships/notesSlide" Target="/ppt/notesSlides/notesSlide5.xml" Id="Rb9f22d104cd740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aabc0e02a4b60" /><Relationship Type="http://schemas.openxmlformats.org/officeDocument/2006/relationships/notesSlide" Target="/ppt/notesSlides/notesSlide6.xml" Id="R3c1b8e01832243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bea82d46a4cee" /><Relationship Type="http://schemas.openxmlformats.org/officeDocument/2006/relationships/notesSlide" Target="/ppt/notesSlides/notesSlide7.xml" Id="R06fe13a4054643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51b0f5f7c4db8" /><Relationship Type="http://schemas.openxmlformats.org/officeDocument/2006/relationships/notesSlide" Target="/ppt/notesSlides/notesSlide8.xml" Id="R4e756690695643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03a432c7544ad" /><Relationship Type="http://schemas.openxmlformats.org/officeDocument/2006/relationships/notesSlide" Target="/ppt/notesSlides/notesSlide9.xml" Id="Reab9adb346a647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78e114bb714421" /><Relationship Type="http://schemas.openxmlformats.org/officeDocument/2006/relationships/notesSlide" Target="/ppt/notesSlides/notesSlide10.xml" Id="Rd5c2f06468ff4e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f5d030b904270" /><Relationship Type="http://schemas.openxmlformats.org/officeDocument/2006/relationships/notesSlide" Target="/ppt/notesSlides/notesSlide11.xml" Id="Ra7f175c208864e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4a100cc25f42a2" /><Relationship Type="http://schemas.openxmlformats.org/officeDocument/2006/relationships/notesSlide" Target="/ppt/notesSlides/notesSlide12.xml" Id="Rd56f632edeb745f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f99c439ef4ba4" /><Relationship Type="http://schemas.openxmlformats.org/officeDocument/2006/relationships/notesSlide" Target="/ppt/notesSlides/notesSlide13.xml" Id="R0ac5603830af4e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379F87-4A1E-4DE5-B6BE-27995688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1F66E-CBB4-45EE-B6D4-188D4B79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YANO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616ED1-2EB5-45FE-B30E-6A0C2F14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6667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 chains that turn shared decisions into provable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2B9D-7273-4BC9-82C6-A583F705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Deterministic state • threshold finality • proofs • Cardano anchoring • controlled external effects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2DA01-CA68-4E0A-9EFC-8EDC9F08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314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A 10–15 minute overview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4b84f9b8349e5"/>
          <a:stretch xmlns:a="http://schemas.openxmlformats.org/drawingml/2006/main"/>
        </p:blipFill>
        <p:spPr>
          <a:xfrm xmlns:a="http://schemas.openxmlformats.org/drawingml/2006/main">
            <a:off x="7858125" y="1333500"/>
            <a:ext cx="3429000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8A7ED-9E05-483F-99C6-0DFEAFF4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43500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0936292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itle-2">
            <a:extLst xmlns:a="http://schemas.openxmlformats.org/drawingml/2006/main">
              <a:ext uri="{FF2B5EF4-FFF2-40B4-BE49-F238E27FC236}">
                <a16:creationId xmlns:a16="http://schemas.microsoft.com/office/drawing/2014/main" id="{2B330BE6-4367-4C77-9CEE-0C9348A0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workflows fail when one party controls history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0892305C-A75F-4CA0-853A-183CAC1B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79B354-E220-4480-9347-7449BA79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The hard problem is shared governance—not another database.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1685925" y="2543175"/>
            <a:ext cx="171450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41" name=""/>
          <p:cNvCxnSpPr/>
          <p:nvPr/>
        </p:nvCxnSpPr>
        <p:spPr>
          <a:xfrm xmlns:a="http://schemas.openxmlformats.org/drawingml/2006/main">
            <a:off x="1685925" y="3448050"/>
            <a:ext cx="171450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42" name=""/>
          <p:cNvCxnSpPr/>
          <p:nvPr/>
        </p:nvCxnSpPr>
        <p:spPr>
          <a:xfrm xmlns:a="http://schemas.openxmlformats.org/drawingml/2006/main">
            <a:off x="1685925" y="32670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43231-EF68-4B6C-A7CA-19A32E95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43125"/>
            <a:ext cx="142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B9DAD-5659-4A35-A85C-83C19225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Partner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15C4F-5ECB-465A-9F51-CF59F4C2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24175"/>
            <a:ext cx="142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5414D7-5571-421A-A3F6-8C6CCC61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Partner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95E15-9298-4C19-9758-E51458F7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05225"/>
            <a:ext cx="142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A92E7-EEAB-4DA9-9E2E-44DF4896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Partner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30CE3-50F4-427F-A983-C47797F3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19375"/>
            <a:ext cx="21907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14288">
            <a:solidFill>
              <a:srgbClr val="0E12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4EDAE-F9EE-4618-8B7A-57F9048E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95575"/>
            <a:ext cx="19621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shared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database / broker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515EF-102E-43AE-B327-C77F7B85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2481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3B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3B8A"/>
                </a:solidFill>
                <a:latin typeface="Helvetica Neue"/>
                <a:ea typeface="Helvetica Neue"/>
                <a:cs typeface="Helvetica Neue"/>
              </a:rPr>
              <a:t>Who can rewrite, stop, or reinterpret the process?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4095F5-67C2-4F2E-86A8-237ECBA6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907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What breaks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A65691-5C8A-47D9-9294-675CA2B4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479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A835A-6953-477C-B255-2CAB432D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400300"/>
            <a:ext cx="42195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Participants reconcile separate histories after the fact.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272D3-46CB-45EB-B0A0-9AED732D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337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0B2F-A513-4CE2-B82D-E8AF2DC0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86100"/>
            <a:ext cx="42195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One operator controls ordering, availability, and access.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237D9C-504C-421C-BAAF-89255422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95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BA9348-8323-4B9E-A2DD-E09C9219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771900"/>
            <a:ext cx="42195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External actions are weakly tied to the shared decision.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2B3811-B852-4FAA-BA76-730A02DC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053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3A6EFA-3449-4350-95E8-E42D5808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57700"/>
            <a:ext cx="42195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Public-chain execution is often too costly or inflexible for every event.</a:t>
            </a:r>
          </a:p>
        </p:txBody>
      </p:sp>
    </p:spTree>
    <p:extLst>
      <p:ext uri="{BB962C8B-B14F-4D97-AF65-F5344CB8AC3E}">
        <p14:creationId xmlns:p14="http://schemas.microsoft.com/office/powerpoint/2010/main" val="13612253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itle-3">
            <a:extLst xmlns:a="http://schemas.openxmlformats.org/drawingml/2006/main">
              <a:ext uri="{FF2B5EF4-FFF2-40B4-BE49-F238E27FC236}">
                <a16:creationId xmlns:a16="http://schemas.microsoft.com/office/drawing/2014/main" id="{E526AE78-462A-4909-A681-0501167A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app chain turns shared decisions into verifiable state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6B4E0C28-0D7F-4500-A8DC-ACEA9DFF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1AAB7-883F-4172-87A8-C5041FC4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Application-specific consensus anchored to Cardano</a:t>
            </a:r>
          </a:p>
        </p:txBody>
      </p:sp>
      <p:cxnSp>
        <p:nvCxnSpPr>
          <p:cNvPr id="49" name=""/>
          <p:cNvCxnSpPr/>
          <p:nvPr/>
        </p:nvCxnSpPr>
        <p:spPr>
          <a:xfrm xmlns:a="http://schemas.openxmlformats.org/drawingml/2006/main">
            <a:off x="1952625" y="3333750"/>
            <a:ext cx="15716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cxnSp>
        <p:nvCxnSpPr>
          <p:cNvPr id="50" name=""/>
          <p:cNvCxnSpPr/>
          <p:nvPr/>
        </p:nvCxnSpPr>
        <p:spPr>
          <a:xfrm xmlns:a="http://schemas.openxmlformats.org/drawingml/2006/main">
            <a:off x="7524750" y="3333750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cxnSp>
        <p:nvCxnSpPr>
          <p:cNvPr id="51" name=""/>
          <p:cNvCxnSpPr/>
          <p:nvPr/>
        </p:nvCxnSpPr>
        <p:spPr>
          <a:xfrm xmlns:a="http://schemas.openxmlformats.org/drawingml/2006/main">
            <a:off x="5476875" y="4762500"/>
            <a:ext cx="0" cy="8096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cxnSp>
        <p:nvCxnSpPr>
          <p:cNvPr id="52" name=""/>
          <p:cNvCxnSpPr/>
          <p:nvPr/>
        </p:nvCxnSpPr>
        <p:spPr>
          <a:xfrm xmlns:a="http://schemas.openxmlformats.org/drawingml/2006/main">
            <a:off x="4486275" y="2638425"/>
            <a:ext cx="981075" cy="695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53" name=""/>
          <p:cNvCxnSpPr/>
          <p:nvPr/>
        </p:nvCxnSpPr>
        <p:spPr>
          <a:xfrm xmlns:a="http://schemas.openxmlformats.org/drawingml/2006/main">
            <a:off x="5476875" y="2638425"/>
            <a:ext cx="981075" cy="695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54" name=""/>
          <p:cNvCxnSpPr/>
          <p:nvPr/>
        </p:nvCxnSpPr>
        <p:spPr>
          <a:xfrm xmlns:a="http://schemas.openxmlformats.org/drawingml/2006/main">
            <a:off x="4486275" y="3333750"/>
            <a:ext cx="981075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E9CA5-238B-4A58-8F0B-95ADD02E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1476375" cy="190500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2ACB8-B49C-48C7-B32D-869858B5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57450"/>
            <a:ext cx="12477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Clients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Signed messages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Queries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Proof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2299F-E613-459C-9206-57A0CE61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66875"/>
            <a:ext cx="4000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D95B2-973F-4F73-B835-69A67E26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669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Yano app-chain cluster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396DD5-AF05-4616-96B6-49C1D566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812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12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D1E0B5-4F83-4024-AF77-338D8960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812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12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7ED85-2231-4AF5-9433-45507EE2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243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12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D986FA-7906-4F88-947C-26D48157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717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Member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9A46E4-A7D7-4F3D-9667-BE0801B1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7717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Member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FB4518-5F96-49C7-A760-FB9DC0ED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1482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Member 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6FAB26-506C-4661-87CE-48501FDF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00375"/>
            <a:ext cx="1047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16DCF-8D40-4FD8-B596-3F6CE744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076575"/>
            <a:ext cx="819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0A679-FA42-40D4-8F81-E6DD2427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33362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098B20-4B88-4849-8AB8-E4F58E4B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66950"/>
            <a:ext cx="2105025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External systems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Kafka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Object storage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IPFS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ERP / webhooks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AF9521-505A-4BA8-99E9-B8B02B08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572125"/>
            <a:ext cx="2095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14288">
            <a:solidFill>
              <a:srgbClr val="0E12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E9188F-AD98-4723-B6D9-0A0190F4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648325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Cardano anchor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94A93F-CA20-4E37-A3BA-098FF175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00037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Finality + effects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C23BEA-D12A-4E97-BA31-C6068E10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1435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Certified root</a:t>
            </a:r>
          </a:p>
        </p:txBody>
      </p:sp>
    </p:spTree>
    <p:extLst>
      <p:ext uri="{BB962C8B-B14F-4D97-AF65-F5344CB8AC3E}">
        <p14:creationId xmlns:p14="http://schemas.microsoft.com/office/powerpoint/2010/main" val="2417488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itle-4">
            <a:extLst xmlns:a="http://schemas.openxmlformats.org/drawingml/2006/main">
              <a:ext uri="{FF2B5EF4-FFF2-40B4-BE49-F238E27FC236}">
                <a16:creationId xmlns:a16="http://schemas.microsoft.com/office/drawing/2014/main" id="{6B0A01C0-A730-4790-AEEC-2F724152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message becomes final, provable, actionable and anchored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7F85347A-F12A-4C63-B513-303ECA63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CE51F-4B31-45FD-AE2D-09F5CE51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Every stage has a distinct responsibility and evidence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45409-CACC-4DB1-AB85-4BAA9CA3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37185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80F76-4980-4A71-92FD-8BD5D6C2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37185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EB4D9-B45D-4581-BC93-D1FFB79A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7185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2205D-7CAD-487F-8A33-B8ADECC7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37185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3259E-1DF5-4548-B6D1-A78F1CC9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37185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3B376-223B-4635-BA40-7A7D5B52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cxnSp>
        <p:nvCxnSpPr>
          <p:cNvPr id="104" name=""/>
          <p:cNvCxnSpPr/>
          <p:nvPr/>
        </p:nvCxnSpPr>
        <p:spPr>
          <a:xfrm xmlns:a="http://schemas.openxmlformats.org/drawingml/2006/main">
            <a:off x="400050" y="24288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D3EA2-1CDF-4ADA-87EA-11802CF3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Submit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08007-0388-432E-89FA-241EAC7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86125"/>
            <a:ext cx="1714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A member signs an application message.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5B38BB-F838-47C1-B453-12302C9C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905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cxnSp>
        <p:nvCxnSpPr>
          <p:cNvPr id="108" name=""/>
          <p:cNvCxnSpPr/>
          <p:nvPr/>
        </p:nvCxnSpPr>
        <p:spPr>
          <a:xfrm xmlns:a="http://schemas.openxmlformats.org/drawingml/2006/main">
            <a:off x="2362200" y="24288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1057B9-2D4F-480E-9FB5-B0E2EB21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241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Order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140F5-45E5-44F7-9460-A0A9163D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86125"/>
            <a:ext cx="1714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The proposer batches accepted messages.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0E1995-9D25-45A9-8A41-3B52AB4A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05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4324350" y="24288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F86B38-8450-48E3-94D1-D688CF85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241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Re-execute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AF6908-843E-42B3-AB28-54B27298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86125"/>
            <a:ext cx="1714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Every member derives the same state root.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C14EB1-AE23-4ABC-ADFA-F5CCBCDA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05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cxnSp>
        <p:nvCxnSpPr>
          <p:cNvPr id="116" name=""/>
          <p:cNvCxnSpPr/>
          <p:nvPr/>
        </p:nvCxnSpPr>
        <p:spPr>
          <a:xfrm xmlns:a="http://schemas.openxmlformats.org/drawingml/2006/main">
            <a:off x="6286500" y="24288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BEA87-819C-4D2E-A3A2-7E36BF88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Finalize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A01FB9-1B93-4032-8D31-5521A9D9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1714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The threshold signs the app block.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0AE7C-A437-468A-9B3D-E4203CD6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05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cxnSp>
        <p:nvCxnSpPr>
          <p:cNvPr id="120" name=""/>
          <p:cNvCxnSpPr/>
          <p:nvPr/>
        </p:nvCxnSpPr>
        <p:spPr>
          <a:xfrm xmlns:a="http://schemas.openxmlformats.org/drawingml/2006/main">
            <a:off x="8248650" y="24288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5B2BFF"/>
            </a:solidFill>
            <a:prstDash val="soli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4FCA10-32A3-4E1E-8D49-A348C02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241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000E27-7DF7-4314-BD8F-C7D1BDEC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86125"/>
            <a:ext cx="1714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Eligible effects run outside consensus.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935000-D3F7-4E1A-B82F-DC1F9C2D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905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cxnSp>
        <p:nvCxnSpPr>
          <p:cNvPr id="124" name=""/>
          <p:cNvCxnSpPr/>
          <p:nvPr/>
        </p:nvCxnSpPr>
        <p:spPr>
          <a:xfrm xmlns:a="http://schemas.openxmlformats.org/drawingml/2006/main">
            <a:off x="10210800" y="2428875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5B2BFF"/>
            </a:solidFill>
            <a:prstDash val="soli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8A56A0-06CA-440D-BA56-09CA995C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7241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Prove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DFA92A-1086-47BD-8743-FD4E4CB6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286125"/>
            <a:ext cx="1714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Results and the root can be verified and anchored.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E2FC35-2D31-4624-A8AB-20BB84A7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81575"/>
            <a:ext cx="11391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9525">
            <a:solidFill>
              <a:srgbClr val="0E123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C72936-01BB-4831-A268-3DDABBC9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065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7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proposer orders. Members verify. The state machine decides. Executors act. Cardano anchors.</a:t>
            </a:r>
          </a:p>
        </p:txBody>
      </p:sp>
    </p:spTree>
    <p:extLst>
      <p:ext uri="{BB962C8B-B14F-4D97-AF65-F5344CB8AC3E}">
        <p14:creationId xmlns:p14="http://schemas.microsoft.com/office/powerpoint/2010/main" val="15157609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itle-5">
            <a:extLst xmlns:a="http://schemas.openxmlformats.org/drawingml/2006/main">
              <a:ext uri="{FF2B5EF4-FFF2-40B4-BE49-F238E27FC236}">
                <a16:creationId xmlns:a16="http://schemas.microsoft.com/office/drawing/2014/main" id="{5AF95192-6597-4584-9690-F52828BA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Deterministic consensus. Safe integrations.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F9783881-53BD-4860-908E-EB2C6D50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F59C0F-5E58-4E11-A9FB-F25C1DE6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Intent is consensus data; execution is recoverable operational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2F7F5-771C-4802-A141-92FC8AC0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953000" cy="361950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89B8C-6255-44A6-8FFB-BC3CAD91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14500"/>
            <a:ext cx="4953000" cy="361950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9050">
            <a:solidFill>
              <a:srgbClr val="51566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F0FB3-8F71-402B-86F8-56D70AA9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CONSENSUS PLANE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20DA2-E760-434C-849F-042AC76D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Identical on every member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71EAB-265A-4103-BE4E-139B262D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7E8113-ECB5-43F1-9C7D-277F35F4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432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Validate signed messages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1FC6E1-BE5E-4FAE-B7DA-9FC20FBB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61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0883A-5761-4B74-8629-D7AF236F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385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Apply deterministic state transitions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C1BD9-2918-4820-9AA0-DF058715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2D52AC-0D33-4B2F-B246-D8927415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1338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Emit immutable effect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548E9-09AF-40B2-A4EA-4B0F3485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767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982EB-5E9B-4E94-9A7C-464AAFDB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6291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Commit state and effects under one root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519D59-7081-4F16-834F-021D63F9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81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EXECUTION PLANE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DA260F-D38D-4961-9C57-91687C36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84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Runs on a designated executor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C0C7C1-6AB0-4DFB-989E-3085C66E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908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BFF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42D06-E99A-42C2-A153-1A43C79D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Wait for the configured finality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C0AE8-3CDB-402B-9EEB-5BFD9302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861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BFF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D29B6C-4ADE-456F-8801-DDEDE09C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385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Call Kafka, S3, IPFS, Cardano or ERP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2B583D-D2A1-497B-B782-D4500C9E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814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BFF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53ED98-ED5A-47F4-B45B-951964BD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1338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Retry and reconcile ambiguous outcomes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5AF8AD-2CB8-46DC-9420-15C6A994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767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BFF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44DD9E-9598-4EDF-A1E3-C03E0534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629150"/>
            <a:ext cx="383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Return a signed receipt or terminal result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060797-9168-4418-BD72-52EAE301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171825"/>
            <a:ext cx="1047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12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8F9FF5-93A8-4806-9F84-7FB1BA8C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385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Effect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record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6DEFFD-BA4F-454D-BE3C-46DE59FD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81650"/>
            <a:ext cx="6096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35043F-20A5-46E7-A1A1-E3B425C6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6769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Exactly-once incorporation • At-least-once external execution</a:t>
            </a:r>
          </a:p>
        </p:txBody>
      </p:sp>
    </p:spTree>
    <p:extLst>
      <p:ext uri="{BB962C8B-B14F-4D97-AF65-F5344CB8AC3E}">
        <p14:creationId xmlns:p14="http://schemas.microsoft.com/office/powerpoint/2010/main" val="20347295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6">
            <a:extLst xmlns:a="http://schemas.openxmlformats.org/drawingml/2006/main">
              <a:ext uri="{FF2B5EF4-FFF2-40B4-BE49-F238E27FC236}">
                <a16:creationId xmlns:a16="http://schemas.microsoft.com/office/drawing/2014/main" id="{145F9CD7-8576-48AB-86E2-2B705B4C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with configuration; add code only for domain rules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D517D0F3-8AC4-46BC-BFA9-CE90A5FC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4DFD42-0D72-4D49-8431-A9DDAF2A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The same consensus, proof, anchoring and operations foundation serves every path.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3EF0C-5AEA-49BF-9ABC-3960F72D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60186-1330-415C-A0DE-CBE042E9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Configuration only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400050" y="2857500"/>
            <a:ext cx="3238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B0EBC-9CF7-41AA-A95A-F7FFE7B8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238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ordered-log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kv-registry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approvals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balances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doc-trail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composite / evidence-v1-gated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B52EF-E67C-4A5B-99DC-0100B578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145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71BF3-5CF4-422A-9F88-49367FA6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3837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First-party bundles</a:t>
            </a:r>
          </a:p>
        </p:txBody>
      </p:sp>
      <p:cxnSp>
        <p:nvCxnSpPr>
          <p:cNvPr id="56" name=""/>
          <p:cNvCxnSpPr/>
          <p:nvPr/>
        </p:nvCxnSpPr>
        <p:spPr>
          <a:xfrm xmlns:a="http://schemas.openxmlformats.org/drawingml/2006/main">
            <a:off x="4314825" y="2857500"/>
            <a:ext cx="3238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5B2BF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B20A1-3A5F-4A43-801B-2647FF4E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43250"/>
            <a:ext cx="3238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kafka.publish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object.put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ipfs.pin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webhook.post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Cardano payment preview profile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F74142-7983-4B6F-BBAD-8BE5DA1E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145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B687E-0345-416E-97FA-8C9C916F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3837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Custom manifested plugin</a:t>
            </a:r>
          </a:p>
        </p:txBody>
      </p:sp>
      <p:cxnSp>
        <p:nvCxnSpPr>
          <p:cNvPr id="60" name=""/>
          <p:cNvCxnSpPr/>
          <p:nvPr/>
        </p:nvCxnSpPr>
        <p:spPr>
          <a:xfrm xmlns:a="http://schemas.openxmlformats.org/drawingml/2006/main">
            <a:off x="8229600" y="2857500"/>
            <a:ext cx="3238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E1230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8F4D2-00A7-4B19-B512-8584EEC7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43250"/>
            <a:ext cx="3238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Domain state machine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Custom composite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Effect executor or sink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Domain API and query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Health, metrics and operations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B1986-24E0-4313-B245-35F66457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81675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No application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4FD64-53B6-447A-BD67-20B2A055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781675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Install + configure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64FB1-8AD7-492D-AF27-BD87BA3B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7816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Small Java assembly /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898251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7">
            <a:extLst xmlns:a="http://schemas.openxmlformats.org/drawingml/2006/main">
              <a:ext uri="{FF2B5EF4-FFF2-40B4-BE49-F238E27FC236}">
                <a16:creationId xmlns:a16="http://schemas.microsoft.com/office/drawing/2014/main" id="{F01BECDC-EE65-4240-BD69-73D28039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Plugins extend typed boundaries—not consensus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DDCEB2F7-547B-42B1-885D-AA9B25E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2969A-9356-4CF0-B04D-F45C71E2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JVM: drop-in bundle JAR • Native: include at build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9774B-D40F-4870-8D09-41CC019A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09750"/>
            <a:ext cx="10001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64E8B-0D56-45D4-8DF3-C0E327AF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716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DOMAIN APPLICATION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6C2F4-7051-4E49-A8D9-597570B4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33625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State machine  •  Composite profile  •  Domain API  •  Committed queries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8C4610-74CC-4EBF-974B-909323D8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000375"/>
            <a:ext cx="10001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96E982-0A5E-4F3A-B6D9-55A6D91A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623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INTEGRATIONS + OPERATIONS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DA0AE-B26F-4503-92F9-0DB51400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Effect executors  •  Finalized sinks  •  Health  •  Metrics  • 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B0F5B-5DAA-4302-949B-7F9C8C2B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109537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9525">
            <a:solidFill>
              <a:srgbClr val="0E12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2AD49-F7F5-42EE-922F-B394736E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243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STABLE YANO FOUNDATION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5284C-B4E2-48AC-BCB9-9DE1AB46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53000"/>
            <a:ext cx="1038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8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Signed messages  •  sequencing  •  threshold finality  •  state roots  •  proofs  •  catch-up  •  anchoring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C9B481-DC00-4617-A412-A662E806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864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Manifest + API compatibility + dependency graph + policy + lifecycle</a:t>
            </a:r>
          </a:p>
        </p:txBody>
      </p:sp>
    </p:spTree>
    <p:extLst>
      <p:ext uri="{BB962C8B-B14F-4D97-AF65-F5344CB8AC3E}">
        <p14:creationId xmlns:p14="http://schemas.microsoft.com/office/powerpoint/2010/main" val="20468431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itle-8">
            <a:extLst xmlns:a="http://schemas.openxmlformats.org/drawingml/2006/main">
              <a:ext uri="{FF2B5EF4-FFF2-40B4-BE49-F238E27FC236}">
                <a16:creationId xmlns:a16="http://schemas.microsoft.com/office/drawing/2014/main" id="{1872DE0C-C3F6-49D4-B2E6-4D17C47F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Several capabilities can share one atomic app-chain root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EE03C9E4-0C56-441D-A65A-215F8C87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837B5-8C5D-417D-AFD9-26CA3227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Order, routes, namespaces, versions, activations and quotas are consensus data.</a:t>
            </a:r>
          </a:p>
        </p:txBody>
      </p:sp>
      <p:cxnSp>
        <p:nvCxnSpPr>
          <p:cNvPr id="70" name=""/>
          <p:cNvCxnSpPr/>
          <p:nvPr/>
        </p:nvCxnSpPr>
        <p:spPr>
          <a:xfrm xmlns:a="http://schemas.openxmlformats.org/drawingml/2006/main">
            <a:off x="6096000" y="242887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1" name=""/>
          <p:cNvCxnSpPr/>
          <p:nvPr/>
        </p:nvCxnSpPr>
        <p:spPr>
          <a:xfrm xmlns:a="http://schemas.openxmlformats.org/drawingml/2006/main">
            <a:off x="1695450" y="2952750"/>
            <a:ext cx="7543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2" name=""/>
          <p:cNvCxnSpPr/>
          <p:nvPr/>
        </p:nvCxnSpPr>
        <p:spPr>
          <a:xfrm xmlns:a="http://schemas.openxmlformats.org/drawingml/2006/main">
            <a:off x="1695450" y="295275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3" name=""/>
          <p:cNvCxnSpPr/>
          <p:nvPr/>
        </p:nvCxnSpPr>
        <p:spPr>
          <a:xfrm xmlns:a="http://schemas.openxmlformats.org/drawingml/2006/main">
            <a:off x="4210050" y="295275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4" name=""/>
          <p:cNvCxnSpPr/>
          <p:nvPr/>
        </p:nvCxnSpPr>
        <p:spPr>
          <a:xfrm xmlns:a="http://schemas.openxmlformats.org/drawingml/2006/main">
            <a:off x="6724650" y="295275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5" name=""/>
          <p:cNvCxnSpPr/>
          <p:nvPr/>
        </p:nvCxnSpPr>
        <p:spPr>
          <a:xfrm xmlns:a="http://schemas.openxmlformats.org/drawingml/2006/main">
            <a:off x="9239250" y="295275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6" name=""/>
          <p:cNvCxnSpPr/>
          <p:nvPr/>
        </p:nvCxnSpPr>
        <p:spPr>
          <a:xfrm xmlns:a="http://schemas.openxmlformats.org/drawingml/2006/main">
            <a:off x="1695450" y="41529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7" name=""/>
          <p:cNvCxnSpPr/>
          <p:nvPr/>
        </p:nvCxnSpPr>
        <p:spPr>
          <a:xfrm xmlns:a="http://schemas.openxmlformats.org/drawingml/2006/main">
            <a:off x="4210050" y="41529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8" name=""/>
          <p:cNvCxnSpPr/>
          <p:nvPr/>
        </p:nvCxnSpPr>
        <p:spPr>
          <a:xfrm xmlns:a="http://schemas.openxmlformats.org/drawingml/2006/main">
            <a:off x="6724650" y="41529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9" name=""/>
          <p:cNvCxnSpPr/>
          <p:nvPr/>
        </p:nvCxnSpPr>
        <p:spPr>
          <a:xfrm xmlns:a="http://schemas.openxmlformats.org/drawingml/2006/main">
            <a:off x="9239250" y="415290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0" name=""/>
          <p:cNvCxnSpPr/>
          <p:nvPr/>
        </p:nvCxnSpPr>
        <p:spPr>
          <a:xfrm xmlns:a="http://schemas.openxmlformats.org/drawingml/2006/main">
            <a:off x="1695450" y="4572000"/>
            <a:ext cx="7543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1" name=""/>
          <p:cNvCxnSpPr/>
          <p:nvPr/>
        </p:nvCxnSpPr>
        <p:spPr>
          <a:xfrm xmlns:a="http://schemas.openxmlformats.org/drawingml/2006/main">
            <a:off x="6096000" y="4572000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2" name=""/>
          <p:cNvCxnSpPr/>
          <p:nvPr/>
        </p:nvCxnSpPr>
        <p:spPr>
          <a:xfrm xmlns:a="http://schemas.openxmlformats.org/drawingml/2006/main">
            <a:off x="6096000" y="52863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55503-DEDC-4D98-8DDD-F85DD499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19250"/>
            <a:ext cx="47625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14288">
            <a:solidFill>
              <a:srgbClr val="0E12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9CE476-85DD-47AD-A295-748FAAF0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95450"/>
            <a:ext cx="45339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964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Governed profile epoch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order</a:t>
            </a: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 • routes • versions • quotas • activations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F6505-2946-44B0-A280-6BC812D4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057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B2B49C-04C3-4320-BAEF-626F18D1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Registry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95A5F-C8B2-4FC2-A2C8-FEF8BDEC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00475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owned records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B5DD48-F436-4670-9B20-0D2B09E8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33750"/>
            <a:ext cx="2057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B66284-1D84-499E-A3A4-2D4150CA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766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Approvals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BB1BB-3249-4D2B-9A54-424AA3E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800475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k-of-n decisions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368377-D392-4A36-9C5D-56D45DC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333750"/>
            <a:ext cx="2057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1FE196-E889-4163-BC02-D1D5B10B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766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Document trail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CF6240-E3C8-48DF-A54D-8DA336F0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00475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append-only heads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5FCDF2-28E4-4782-868C-DCB3DB37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2057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6FE45D-EF71-4679-9DFD-7ADE4BAC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766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411EF8-B091-45BD-8E32-80A42681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00475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storage + Kafka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C33A57-A700-4C1C-A81E-5A0E8DC7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0125"/>
            <a:ext cx="4000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4CA3D0-4F71-4C43-81D1-D7A2BDE7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86325"/>
            <a:ext cx="377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Declared atomic workflow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BADF4C-DBFF-44E7-837E-3329C50B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7150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DB5332-3FA9-485E-9668-52EA9D69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912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8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authenticated state root</a:t>
            </a:r>
          </a:p>
        </p:txBody>
      </p:sp>
    </p:spTree>
    <p:extLst>
      <p:ext uri="{BB962C8B-B14F-4D97-AF65-F5344CB8AC3E}">
        <p14:creationId xmlns:p14="http://schemas.microsoft.com/office/powerpoint/2010/main" val="8661047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itle-9">
            <a:extLst xmlns:a="http://schemas.openxmlformats.org/drawingml/2006/main">
              <a:ext uri="{FF2B5EF4-FFF2-40B4-BE49-F238E27FC236}">
                <a16:creationId xmlns:a16="http://schemas.microsoft.com/office/drawing/2014/main" id="{40B1DD9B-9E04-4A80-8F3C-D54AA023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evidence workflow demonstrates the complete trust loop</a:t>
            </a:r>
          </a:p>
        </p:txBody>
      </p:sp>
      <p:sp>
        <p:nvSpPr>
          <p:cNvPr id="2" name="page-9">
            <a:extLst xmlns:a="http://schemas.openxmlformats.org/drawingml/2006/main">
              <a:ext uri="{FF2B5EF4-FFF2-40B4-BE49-F238E27FC236}">
                <a16:creationId xmlns:a16="http://schemas.microsoft.com/office/drawing/2014/main" id="{DF54C62A-F951-4EE5-A597-DED0883D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BCD0C-E472-4CE7-B9F5-BECA9BF4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The runner checks external data, app-chain proofs, finality and the Cardano anchor.</a:t>
            </a:r>
          </a:p>
        </p:txBody>
      </p:sp>
      <p:cxnSp>
        <p:nvCxnSpPr>
          <p:cNvPr id="57" name=""/>
          <p:cNvCxnSpPr/>
          <p:nvPr/>
        </p:nvCxnSpPr>
        <p:spPr>
          <a:xfrm xmlns:a="http://schemas.openxmlformats.org/drawingml/2006/main">
            <a:off x="2000250" y="3381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cxnSp>
        <p:nvCxnSpPr>
          <p:cNvPr id="58" name=""/>
          <p:cNvCxnSpPr/>
          <p:nvPr/>
        </p:nvCxnSpPr>
        <p:spPr>
          <a:xfrm xmlns:a="http://schemas.openxmlformats.org/drawingml/2006/main">
            <a:off x="4714875" y="33813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59" name=""/>
          <p:cNvCxnSpPr/>
          <p:nvPr/>
        </p:nvCxnSpPr>
        <p:spPr>
          <a:xfrm xmlns:a="http://schemas.openxmlformats.org/drawingml/2006/main">
            <a:off x="5143500" y="2381250"/>
            <a:ext cx="0" cy="2000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0" name=""/>
          <p:cNvCxnSpPr/>
          <p:nvPr/>
        </p:nvCxnSpPr>
        <p:spPr>
          <a:xfrm xmlns:a="http://schemas.openxmlformats.org/drawingml/2006/main">
            <a:off x="5143500" y="23812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1" name=""/>
          <p:cNvCxnSpPr/>
          <p:nvPr/>
        </p:nvCxnSpPr>
        <p:spPr>
          <a:xfrm xmlns:a="http://schemas.openxmlformats.org/drawingml/2006/main">
            <a:off x="5143500" y="43815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2" name=""/>
          <p:cNvCxnSpPr/>
          <p:nvPr/>
        </p:nvCxnSpPr>
        <p:spPr>
          <a:xfrm xmlns:a="http://schemas.openxmlformats.org/drawingml/2006/main">
            <a:off x="7239000" y="23812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3" name=""/>
          <p:cNvCxnSpPr/>
          <p:nvPr/>
        </p:nvCxnSpPr>
        <p:spPr>
          <a:xfrm xmlns:a="http://schemas.openxmlformats.org/drawingml/2006/main">
            <a:off x="7239000" y="438150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4" name=""/>
          <p:cNvCxnSpPr/>
          <p:nvPr/>
        </p:nvCxnSpPr>
        <p:spPr>
          <a:xfrm xmlns:a="http://schemas.openxmlformats.org/drawingml/2006/main">
            <a:off x="7667625" y="2381250"/>
            <a:ext cx="0" cy="2000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5" name=""/>
          <p:cNvCxnSpPr/>
          <p:nvPr/>
        </p:nvCxnSpPr>
        <p:spPr>
          <a:xfrm xmlns:a="http://schemas.openxmlformats.org/drawingml/2006/main">
            <a:off x="7667625" y="33813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66" name=""/>
          <p:cNvCxnSpPr/>
          <p:nvPr/>
        </p:nvCxnSpPr>
        <p:spPr>
          <a:xfrm xmlns:a="http://schemas.openxmlformats.org/drawingml/2006/main">
            <a:off x="9620250" y="338137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51E7B9-C0A4-4DE2-A9D9-9BF4BB1C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57500"/>
            <a:ext cx="157162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4288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FB600-EC99-41EE-BEA5-0E3AF861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933700"/>
            <a:ext cx="13430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Inspection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certificate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9300D-CAC2-42C8-BAD6-D3C02457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57500"/>
            <a:ext cx="157162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14288">
            <a:solidFill>
              <a:srgbClr val="0E12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36877-82C4-458A-B13D-335C14A6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33700"/>
            <a:ext cx="13430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Finalized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evidence command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6F020A-E1E5-4E3F-9504-9D06F9AF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AFB619-D194-4401-A460-8A66ED5B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33575"/>
            <a:ext cx="139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object.put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immutable archive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EC390D-C157-47E4-8EFB-F730CFE6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57625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DD63D-8ED4-4DEA-BC9F-71F46D79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933825"/>
            <a:ext cx="139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ipfs.pin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known CID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5F55FE-ADC0-460E-A725-9FC0C220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5750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B2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6DFDCD-0DCA-4C9D-8B5C-C43D17D8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33700"/>
            <a:ext cx="1295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Both results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incorporated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B32E57-3B50-4C56-94C9-21747146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2857500"/>
            <a:ext cx="1238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14288">
            <a:solidFill>
              <a:srgbClr val="0E12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20C62B-92DC-4D6B-AB2A-3467CEF0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933700"/>
            <a:ext cx="1009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Kafka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E1421F-3E14-4D5C-8987-2F80D24E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34000"/>
            <a:ext cx="6667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0A182C-6D2E-4160-8048-F0C4F22A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5054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Verify exact bytes + receipts + state/effect proofs + threshold finality + Cardano datum</a:t>
            </a:r>
          </a:p>
        </p:txBody>
      </p:sp>
    </p:spTree>
    <p:extLst>
      <p:ext uri="{BB962C8B-B14F-4D97-AF65-F5344CB8AC3E}">
        <p14:creationId xmlns:p14="http://schemas.microsoft.com/office/powerpoint/2010/main" val="13844227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itle-10">
            <a:extLst xmlns:a="http://schemas.openxmlformats.org/drawingml/2006/main">
              <a:ext uri="{FF2B5EF4-FFF2-40B4-BE49-F238E27FC236}">
                <a16:creationId xmlns:a16="http://schemas.microsoft.com/office/drawing/2014/main" id="{7518042B-E7F9-4E4A-B396-551BBE8E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cases scale from configuration to domain plugins</a:t>
            </a:r>
          </a:p>
        </p:txBody>
      </p:sp>
      <p:sp>
        <p:nvSpPr>
          <p:cNvPr id="2" name="page-10">
            <a:extLst xmlns:a="http://schemas.openxmlformats.org/drawingml/2006/main">
              <a:ext uri="{FF2B5EF4-FFF2-40B4-BE49-F238E27FC236}">
                <a16:creationId xmlns:a16="http://schemas.microsoft.com/office/drawing/2014/main" id="{AC704B5C-6D21-4CEF-BD69-C08C72B4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842F3-76A3-4595-8EFC-581B6BB0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Reuse the platform; specialize only the business semantics and integrations.</a:t>
            </a:r>
          </a:p>
        </p:txBody>
      </p:sp>
      <p:cxnSp>
        <p:nvCxnSpPr>
          <p:cNvPr id="103" name=""/>
          <p:cNvCxnSpPr/>
          <p:nvPr/>
        </p:nvCxnSpPr>
        <p:spPr>
          <a:xfrm xmlns:a="http://schemas.openxmlformats.org/drawingml/2006/main">
            <a:off x="400050" y="180975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474FD-DE48-44A2-964B-4C27518A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CONFIG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FF540-042B-49DB-92E9-CF2280D8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Consortium audit 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9AC5D-805F-4C61-9E34-84FB38F5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Ordered records + proofs</a:t>
            </a:r>
          </a:p>
        </p:txBody>
      </p:sp>
      <p:cxnSp>
        <p:nvCxnSpPr>
          <p:cNvPr id="107" name=""/>
          <p:cNvCxnSpPr/>
          <p:nvPr/>
        </p:nvCxnSpPr>
        <p:spPr>
          <a:xfrm xmlns:a="http://schemas.openxmlformats.org/drawingml/2006/main">
            <a:off x="3333750" y="180975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9EE9F-32FB-4F0F-9D0E-563C3C5E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812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CONFIG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C9168-80F6-4197-8696-97735D20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622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Shared registry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C9F09-D736-4716-A5F3-FC964679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527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Owned keys + anchored state</a:t>
            </a:r>
          </a:p>
        </p:txBody>
      </p:sp>
      <p:cxnSp>
        <p:nvCxnSpPr>
          <p:cNvPr id="111" name=""/>
          <p:cNvCxnSpPr/>
          <p:nvPr/>
        </p:nvCxnSpPr>
        <p:spPr>
          <a:xfrm xmlns:a="http://schemas.openxmlformats.org/drawingml/2006/main">
            <a:off x="6267450" y="180975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E03A9-7F37-4637-A7B4-0D61815E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CONFIG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8C96A-42BD-4CC7-8652-43F74979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622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Multi-party approvals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00A9C-F76B-4625-A383-3266E02A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527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k-of-n decisions</a:t>
            </a:r>
          </a:p>
        </p:txBody>
      </p:sp>
      <p:cxnSp>
        <p:nvCxnSpPr>
          <p:cNvPr id="115" name=""/>
          <p:cNvCxnSpPr/>
          <p:nvPr/>
        </p:nvCxnSpPr>
        <p:spPr>
          <a:xfrm xmlns:a="http://schemas.openxmlformats.org/drawingml/2006/main">
            <a:off x="9201150" y="180975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B73E90-66CD-4EE5-805B-C41370C0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812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CONFIG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DD0F9-AE1C-4AF1-BD62-579F274B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622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Document trail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F5F524-4F1F-43A5-A11B-259143E0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527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Append-only entity history</a:t>
            </a:r>
          </a:p>
        </p:txBody>
      </p:sp>
      <p:cxnSp>
        <p:nvCxnSpPr>
          <p:cNvPr id="119" name=""/>
          <p:cNvCxnSpPr/>
          <p:nvPr/>
        </p:nvCxnSpPr>
        <p:spPr>
          <a:xfrm xmlns:a="http://schemas.openxmlformats.org/drawingml/2006/main">
            <a:off x="400050" y="400050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5B2BFF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DD94CA-E3C1-46D8-B7CE-754414BB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B2BFF"/>
                </a:solidFill>
                <a:latin typeface="Helvetica Neue"/>
                <a:ea typeface="Helvetica Neue"/>
                <a:cs typeface="Helvetica Neue"/>
              </a:rPr>
              <a:t>FIRST-PARTY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31687-F72F-4EDA-9739-BBE3F16D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Evidence publication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A272C7-78DC-4DE5-A37C-6CF2B297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S3 + IPFS + Kafka</a:t>
            </a:r>
          </a:p>
        </p:txBody>
      </p:sp>
      <p:cxnSp>
        <p:nvCxnSpPr>
          <p:cNvPr id="123" name=""/>
          <p:cNvCxnSpPr/>
          <p:nvPr/>
        </p:nvCxnSpPr>
        <p:spPr>
          <a:xfrm xmlns:a="http://schemas.openxmlformats.org/drawingml/2006/main">
            <a:off x="3333750" y="400050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E1230"/>
            </a:solidFill>
            <a:prstDash val="soli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FF0510-9EB7-4377-8253-6BDF3572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71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PLUGIN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E06D36-7F6F-4730-8949-750993A3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529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Digital product 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3F7DC2-D58D-402B-9490-2A54FF3B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Actors, credentials, lifecycle</a:t>
            </a:r>
          </a:p>
        </p:txBody>
      </p:sp>
      <p:cxnSp>
        <p:nvCxnSpPr>
          <p:cNvPr id="127" name=""/>
          <p:cNvCxnSpPr/>
          <p:nvPr/>
        </p:nvCxnSpPr>
        <p:spPr>
          <a:xfrm xmlns:a="http://schemas.openxmlformats.org/drawingml/2006/main">
            <a:off x="6267450" y="400050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E1230"/>
            </a:solidFill>
            <a:prstDash val="soli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7A0D71-726B-4E59-A42D-23BFC979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71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PLUGIN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99C67C-6C3C-40F0-A68B-E572A42F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82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Oracle observation ledger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67D0DB-1692-4216-A5CC-0C4B3238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Sources, quorum, aggregation</a:t>
            </a:r>
          </a:p>
        </p:txBody>
      </p:sp>
      <p:cxnSp>
        <p:nvCxnSpPr>
          <p:cNvPr id="131" name=""/>
          <p:cNvCxnSpPr/>
          <p:nvPr/>
        </p:nvCxnSpPr>
        <p:spPr>
          <a:xfrm xmlns:a="http://schemas.openxmlformats.org/drawingml/2006/main">
            <a:off x="9201150" y="4000500"/>
            <a:ext cx="2590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E1230"/>
            </a:solidFill>
            <a:prstDash val="soli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C99B83-111D-4DD0-90A2-4ED8B921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71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PLUGIN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18B53B-2F19-4204-B0DD-429C2057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5295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Cross-org settlement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BDB0BA-ED82-41A4-8970-0BDD199F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143500"/>
            <a:ext cx="259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Authorization + hardened payment</a:t>
            </a:r>
          </a:p>
        </p:txBody>
      </p:sp>
    </p:spTree>
    <p:extLst>
      <p:ext uri="{BB962C8B-B14F-4D97-AF65-F5344CB8AC3E}">
        <p14:creationId xmlns:p14="http://schemas.microsoft.com/office/powerpoint/2010/main" val="21170993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itle-11">
            <a:extLst xmlns:a="http://schemas.openxmlformats.org/drawingml/2006/main">
              <a:ext uri="{FF2B5EF4-FFF2-40B4-BE49-F238E27FC236}">
                <a16:creationId xmlns:a16="http://schemas.microsoft.com/office/drawing/2014/main" id="{C1F3BB2E-1F1C-42A0-A4AE-EAC46B20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platform proves agreement—not physical truth</a:t>
            </a:r>
          </a:p>
        </p:txBody>
      </p:sp>
      <p:sp>
        <p:nvSpPr>
          <p:cNvPr id="2" name="page-11">
            <a:extLst xmlns:a="http://schemas.openxmlformats.org/drawingml/2006/main">
              <a:ext uri="{FF2B5EF4-FFF2-40B4-BE49-F238E27FC236}">
                <a16:creationId xmlns:a16="http://schemas.microsoft.com/office/drawing/2014/main" id="{692CF9DD-06B3-403D-AA08-8642C21E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3B86E-EA88-4147-8ABE-79437B4E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Business truth remains an explicit domain responsibility.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1D1E0-71F3-49D5-ADA1-041B6368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4048125"/>
          </a:xfrm>
          <a:prstGeom xmlns:a="http://schemas.openxmlformats.org/drawingml/2006/main" prst="roundRect">
            <a:avLst>
              <a:gd name="adj" fmla="val 188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2E516-1F51-4085-87DE-FAE4A01E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5715000" cy="4048125"/>
          </a:xfrm>
          <a:prstGeom xmlns:a="http://schemas.openxmlformats.org/drawingml/2006/main" prst="roundRect">
            <a:avLst>
              <a:gd name="adj" fmla="val 1882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9050">
            <a:solidFill>
              <a:srgbClr val="51566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EBE30-845E-4CCE-9686-A985DF9F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THE PLATFORM CAN PROVE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9ADAE-3E6D-4C80-96C0-9D600706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Cryptographic agreement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38F1E-FEA1-41DB-AC08-B2A1A482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4A655-638F-4F42-98DA-DECAD906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95625"/>
            <a:ext cx="4219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Who signed and finalized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0D49C-814E-4E07-8475-0AE0A549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ABA1A-3FD0-4DDA-8A5C-DB46133B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552825"/>
            <a:ext cx="4219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The exact message order and resulting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B0963-B05A-4AE0-AD2D-663E1F86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A24B6-FCA2-4826-8343-8117FD4C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010025"/>
            <a:ext cx="4219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Inclusion or exclusion against one root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8B36C-33BF-4779-83FD-11E5EDF1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68DB4-3D04-43F9-80AF-CEC0EE00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467225"/>
            <a:ext cx="4219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The authorized effect and incorporated 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2C3C6-7AF5-4003-8FDC-ACD96FE7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9A764-87E1-44BD-A1AC-2591CFFB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24425"/>
            <a:ext cx="4219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The linkage to a Cardano anchor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BED91D-50D0-40FA-9D64-BB2EB144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3B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3B8A"/>
                </a:solidFill>
                <a:latin typeface="Helvetica Neue"/>
                <a:ea typeface="Helvetica Neue"/>
                <a:cs typeface="Helvetica Neue"/>
              </a:rPr>
              <a:t>THE DOMAIN MUST ESTABLISH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748721-9191-4A3A-96DA-9878370A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2887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Real-world meaning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0C300A-8E06-4DA3-9DD6-4B91065B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32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3D0B2E-164A-408F-9DE8-6F6116AB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09562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Whether a physical inspection is true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8926B2-81F5-4774-AB15-44EE49DE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00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CC275F-AB7D-4D42-868F-9A388D82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5282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Whether oracle sources are accurate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C736CC-4158-479C-963C-1068CBDF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5A53F8-9995-4497-81A8-031B178E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01002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Whether a workflow satisfies regulation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BC99B0-16C3-410B-880F-3BCEB0EC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148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D88413-346F-4F23-A68A-67021199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46722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Whether external data remains available forever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8D0308-1436-4912-B688-C055AE1F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720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B8A"/>
          </a:solidFill>
          <a:ln xmlns:a="http://schemas.openxmlformats.org/drawingml/2006/main" w="19050">
            <a:solidFill>
              <a:srgbClr val="FF3B8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892E48-5B93-4606-8998-FABB7180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92442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Whether a payment policy is production-safe</a:t>
            </a:r>
          </a:p>
        </p:txBody>
      </p:sp>
    </p:spTree>
    <p:extLst>
      <p:ext uri="{BB962C8B-B14F-4D97-AF65-F5344CB8AC3E}">
        <p14:creationId xmlns:p14="http://schemas.microsoft.com/office/powerpoint/2010/main" val="21045817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12">
            <a:extLst xmlns:a="http://schemas.openxmlformats.org/drawingml/2006/main">
              <a:ext uri="{FF2B5EF4-FFF2-40B4-BE49-F238E27FC236}">
                <a16:creationId xmlns:a16="http://schemas.microsoft.com/office/drawing/2014/main" id="{E8E7BED8-4F44-4DB7-9043-1DD83489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138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devnet path is end to end</a:t>
            </a:r>
          </a:p>
        </p:txBody>
      </p:sp>
      <p:sp>
        <p:nvSpPr>
          <p:cNvPr id="2" name="page-12">
            <a:extLst xmlns:a="http://schemas.openxmlformats.org/drawingml/2006/main">
              <a:ext uri="{FF2B5EF4-FFF2-40B4-BE49-F238E27FC236}">
                <a16:creationId xmlns:a16="http://schemas.microsoft.com/office/drawing/2014/main" id="{3A1EFD43-7D65-4FCB-95EF-B688DBE2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F5192-C568-41D8-8B72-2A13A686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800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7A808F"/>
                </a:solidFill>
                <a:latin typeface="Helvetica Neue"/>
                <a:ea typeface="Helvetica Neue"/>
                <a:cs typeface="Helvetica Neue"/>
              </a:rPr>
              <a:t>Pre-release: public-network soak, load and domain operations remain rollout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71F88-21E3-4DC2-9B45-5E620180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35623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6A746-DE99-4C58-9FCC-405D4932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23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9388A-1BDF-4E98-BC4E-40E0E802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276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members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B8E85-250C-4059-9CF6-D5B30412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Threshold finality, proofs and script anchoring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128CC-46D3-4109-A638-34298447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47875"/>
            <a:ext cx="35623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789C2B-2F43-45A6-A6C8-1D21D814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33625"/>
            <a:ext cx="123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91E40-30D1-4FD4-A10B-6EF77181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238500"/>
            <a:ext cx="276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connectors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DB91A-2655-4E42-A242-FBED7B3D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762375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Kafka, S3-compatible storage and Kubo/IPFS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3CE4C-E941-4223-BB16-F5F1D69B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35623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D9AB23-13AC-4D25-BAD3-680CF156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33625"/>
            <a:ext cx="123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3DD516-9904-4533-A31A-8DF396F5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38500"/>
            <a:ext cx="276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deployment modes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BBF3D7-C795-4E55-AC1B-537EAFF8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62375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Docker Compose and ordinary host processes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1CA2AA-FA33-4DF5-AE61-2A360D64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006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Also verified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3A70C-59DF-4BBF-BDFD-B45DB4B7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139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15664"/>
                </a:solidFill>
                <a:latin typeface="Helvetica Neue"/>
                <a:ea typeface="Helvetica Neue"/>
                <a:cs typeface="Helvetica Neue"/>
              </a:rPr>
              <a:t>fresh + retained restart  •  governed profile activation  •  executor failover  •  state/effect proofs  •  JVM + Linux ARM64 native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CA23AC-46D7-4032-B0D8-57A93287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953125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E9D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2E9D68"/>
                </a:solidFill>
                <a:latin typeface="Helvetica Neue"/>
                <a:ea typeface="Helvetica Neue"/>
                <a:cs typeface="Helvetica Neue"/>
              </a:rPr>
              <a:t>Independent final reviews: 0 unresolved Critical / High / Medium findings in ADR-013/015 scope</a:t>
            </a:r>
          </a:p>
        </p:txBody>
      </p:sp>
    </p:spTree>
    <p:extLst>
      <p:ext uri="{BB962C8B-B14F-4D97-AF65-F5344CB8AC3E}">
        <p14:creationId xmlns:p14="http://schemas.microsoft.com/office/powerpoint/2010/main" val="12608917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D72982-21C3-4A7F-A52A-355A06B1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YANO APP CHAINS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797B3-940F-4ECF-9B13-B87940DE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537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with one decision that multiple organizations must trust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762000" y="4191000"/>
            <a:ext cx="10096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07DA9-5BAB-4F4D-8133-06356AE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C809C-38B0-46B1-A4E5-F46831F1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1E7E6-8828-48E6-ACA0-FA41D782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Run the devnet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9E734-5B51-4E05-B609-6504675D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48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5877F-8504-442A-BCC4-CCEC1E20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718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94B08-D234-4C1D-A3F4-5D657769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72000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Select the smallest stock machine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1715A-822D-4CEC-928D-F8B18C98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E3F300-B004-453F-9B49-5A9A7F7D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718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B6B0C-42D3-4BB7-A904-1A01F7E0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572000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Add effects only for finalized 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F594D2-17AB-47E2-AC78-8D108278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48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64901-F759-42DC-938E-F43B18F6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5718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D50761-D4B9-4172-8446-8B6B81AB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72000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1230"/>
                </a:solidFill>
                <a:latin typeface="Helvetica Neue"/>
                <a:ea typeface="Helvetica Neue"/>
                <a:cs typeface="Helvetica Neue"/>
              </a:rPr>
              <a:t>Build a domain plugin where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99E82-EDB4-4895-8F34-7D5A6780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3919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0E1230"/>
          </a:solidFill>
          <a:ln xmlns:a="http://schemas.openxmlformats.org/drawingml/2006/main" w="9525">
            <a:solidFill>
              <a:srgbClr val="0E12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5B4D8B-9B90-4C13-A0DB-C3034F8D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Shared decisions become finalized state. Finalized state becomes proof. Proof can authorize action.</a:t>
            </a:r>
          </a:p>
        </p:txBody>
      </p:sp>
    </p:spTree>
    <p:extLst>
      <p:ext uri="{BB962C8B-B14F-4D97-AF65-F5344CB8AC3E}">
        <p14:creationId xmlns:p14="http://schemas.microsoft.com/office/powerpoint/2010/main" val="721631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2026-07-17T13:18:01.1530000Z</dcterms:created>
  <dcterms:modified xsi:type="dcterms:W3CDTF">2026-07-17T13:18:01.1530000Z</dcterms:modified>
</coreProperties>
</file>